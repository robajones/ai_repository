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iki.dfrobot.com/SKU_DFR1154" TargetMode="External"/><Relationship Id="rId3" Type="http://schemas.openxmlformats.org/officeDocument/2006/relationships/hyperlink" Target="https://www.arduino.cc/en/software" TargetMode="External"/><Relationship Id="rId4" Type="http://schemas.openxmlformats.org/officeDocument/2006/relationships/hyperlink" Target="https://platform.openai.com" TargetMode="External"/><Relationship Id="rId5" Type="http://schemas.openxmlformats.org/officeDocument/2006/relationships/hyperlink" Target="https://randomnerdtutorials.com/installing-the-esp32-board-in-arduino-ide-2/" TargetMode="External"/><Relationship Id="rId1" Type="http://schemas.openxmlformats.org/officeDocument/2006/relationships/image" Target="../media/image-12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28600"/>
            <a:ext cx="128016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37360" y="3200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Center for Innovation in Jewish Education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57200" y="129844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DFRobot DFR1154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19385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Camera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457200" y="2670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Start &amp; Assembly Guide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2286000" y="3273552"/>
            <a:ext cx="45720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33832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v3.1.4  |  Arduino IDE 2.x  |  OpenAI Integration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38404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Includes: Hardware Setup  •  Arduino IDE Config  •  Code Upload  •  Web Interface Guide  •  Process Flow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C07D10"/>
          </a:solidFill>
          <a:ln w="12700">
            <a:solidFill>
              <a:srgbClr val="C07D1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45720"/>
            <a:ext cx="777240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9144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Need — Parts &amp; Prerequisites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82880" y="482803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CIJE | DFR1154 AI Camera Quick Start Guide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046720" y="48280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82880" y="749808"/>
            <a:ext cx="4114800" cy="3931920"/>
          </a:xfrm>
          <a:prstGeom prst="rect">
            <a:avLst/>
          </a:prstGeom>
          <a:solidFill>
            <a:srgbClr val="1A2B4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20040" y="8412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REQUIRED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47472" y="129844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DFR1154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Camera Module (ESP32-S3 + OV3660 + Mic + Speaker)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47472" y="175564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IDE 2.x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from arduino.cc/en/software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47472" y="221284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USB-A to USB-C cable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power and code upload to the board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47472" y="267004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Account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required — platform.openai.com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47472" y="312724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Network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2.4GHz network with SSID and password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47472" y="358444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Windows, macOS, or Linux with USB port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0" y="749808"/>
            <a:ext cx="429768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572000" y="749808"/>
            <a:ext cx="128016" cy="19202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73168" y="84124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OPTIONAL (Recommended)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773168" y="12618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AI Camera Tripod / Mount Kit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773168" y="151790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Arduino UNO (for Serial Automation)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773168" y="17739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Mini Breadboard + jumper wires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773168" y="20299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MicroSD Card (up to 16GB) — for file storage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773168" y="22860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Small speaker with MX1.25-2P connector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572000" y="2834640"/>
            <a:ext cx="4297680" cy="18470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572000" y="2834640"/>
            <a:ext cx="128016" cy="1847088"/>
          </a:xfrm>
          <a:prstGeom prst="rect">
            <a:avLst/>
          </a:prstGeom>
          <a:solidFill>
            <a:srgbClr val="22863A"/>
          </a:solidFill>
          <a:ln w="12700">
            <a:solidFill>
              <a:srgbClr val="22863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73168" y="29260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8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Library Required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4773168" y="3310128"/>
            <a:ext cx="4023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ArduinoJson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by Benoit Blanchon
</a:t>
            </a:r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7.42 or newer required
</a:t>
            </a:r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via: </a:t>
            </a:r>
            <a:pPr indent="0" marL="0">
              <a:spcAft>
                <a:spcPts val="500"/>
              </a:spcAft>
              <a:buNone/>
            </a:pPr>
            <a:r>
              <a:rPr lang="en-US" sz="10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IDE &gt; Tools &gt; Manage Libraries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45720"/>
            <a:ext cx="777240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9144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Hardware Overview — DFR1154 Board Features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82880" y="482803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CIJE | DFR1154 AI Camera Quick Start Guide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046720" y="48280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82880" y="749808"/>
            <a:ext cx="5029200" cy="34747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394960" y="777240"/>
            <a:ext cx="347472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5394960" y="777240"/>
            <a:ext cx="91440" cy="43891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559552" y="80467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OV3660 Camera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5559552" y="99669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160° wide-angle, infrared capable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5394960" y="1271016"/>
            <a:ext cx="347472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394960" y="1271016"/>
            <a:ext cx="91440" cy="43891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559552" y="1298448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PDM Microphone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5559552" y="149047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38/39, I2S interface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5394960" y="1764792"/>
            <a:ext cx="347472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394960" y="1764792"/>
            <a:ext cx="91440" cy="43891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559552" y="1792224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MAX98357A Speaker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5559552" y="198424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I2S amplifier, GPIO 45/46/42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5394960" y="2258568"/>
            <a:ext cx="347472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5394960" y="2258568"/>
            <a:ext cx="91440" cy="43891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559552" y="228600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Illumination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5559552" y="247802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47, for low-light imaging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5394960" y="2752344"/>
            <a:ext cx="347472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5394960" y="2752344"/>
            <a:ext cx="91440" cy="43891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559552" y="2779776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Sensor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5559552" y="2971800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LTR-308 ambient light (GPIO 8/9)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5394960" y="3246120"/>
            <a:ext cx="347472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5394960" y="3246120"/>
            <a:ext cx="91440" cy="43891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559552" y="32735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 Card Slot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5559552" y="346557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16GB, SPI interface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5394960" y="3739896"/>
            <a:ext cx="347472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5394960" y="3739896"/>
            <a:ext cx="91440" cy="43891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5559552" y="3767328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Type-C USB</a:t>
            </a:r>
            <a:endParaRPr lang="en-US" sz="1050" dirty="0"/>
          </a:p>
        </p:txBody>
      </p:sp>
      <p:sp>
        <p:nvSpPr>
          <p:cNvPr id="36" name="Text 32"/>
          <p:cNvSpPr/>
          <p:nvPr/>
        </p:nvSpPr>
        <p:spPr>
          <a:xfrm>
            <a:off x="5559552" y="395935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input + code upload port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5394960" y="4233672"/>
            <a:ext cx="347472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4"/>
          <p:cNvSpPr/>
          <p:nvPr/>
        </p:nvSpPr>
        <p:spPr>
          <a:xfrm>
            <a:off x="5394960" y="4233672"/>
            <a:ext cx="91440" cy="43891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5559552" y="4261104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 Connector</a:t>
            </a:r>
            <a:endParaRPr lang="en-US" sz="1050" dirty="0"/>
          </a:p>
        </p:txBody>
      </p:sp>
      <p:sp>
        <p:nvSpPr>
          <p:cNvPr id="40" name="Text 36"/>
          <p:cNvSpPr/>
          <p:nvPr/>
        </p:nvSpPr>
        <p:spPr>
          <a:xfrm>
            <a:off x="5559552" y="44531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43(TX)/44(RX) for Arduino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45720"/>
            <a:ext cx="777240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9144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GPIO Pin Reference Table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82880" y="482803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CIJE | DFR1154 AI Camera Quick Start Guide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046720" y="48280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37160" y="749808"/>
            <a:ext cx="8869680" cy="3886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2880" y="4572000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Camera (SIOD=8, SIOC=9) shares I2C with ALS sensor. PDM mic (GPIO 38/39) shares I2S_NUM_0 with camera DMA — real-time audio+video simultaneously is not supported.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45720"/>
            <a:ext cx="777240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9144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1 — Arduino IDE Setup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82880" y="482803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CIJE | DFR1154 AI Camera Quick Start Guide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046720" y="48280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274320" y="74980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Arduino IDE 2.x before uploading firmware to the DFR1154: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82880" y="1115568"/>
            <a:ext cx="416052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82880" y="1115568"/>
            <a:ext cx="128016" cy="35661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84048" y="12070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A. Board Manager Setup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47472" y="1627632"/>
            <a:ext cx="384048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7472" y="1627632"/>
            <a:ext cx="457200" cy="47548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74904" y="1627632"/>
            <a:ext cx="402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896112" y="170078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Arduino IDE &gt; File &gt; Preferences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47472" y="2148840"/>
            <a:ext cx="38404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47472" y="2148840"/>
            <a:ext cx="4572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74904" y="2148840"/>
            <a:ext cx="4023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96112" y="2221992"/>
            <a:ext cx="32004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Board URL: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arduino.esp8266.com/stable/package_esp8266com_index.json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(also add Espressif ESP32 URL)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47472" y="2889504"/>
            <a:ext cx="384048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47472" y="2889504"/>
            <a:ext cx="457200" cy="5486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74904" y="2889504"/>
            <a:ext cx="402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896112" y="2962656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&gt; Board Manager &gt; Search "ESP32" &gt; Install esp32 by Espressif Systems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47472" y="3493008"/>
            <a:ext cx="3840480" cy="1097280"/>
          </a:xfrm>
          <a:prstGeom prst="rect">
            <a:avLst/>
          </a:prstGeom>
          <a:solidFill>
            <a:srgbClr val="F5F5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38912" y="354787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fix (if install fails):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438912" y="376732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Edit: ~/.arduinoIDE/arduino-cli.yaml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Add: network: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connection_timeout: 600s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572000" y="1115568"/>
            <a:ext cx="429768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572000" y="1115568"/>
            <a:ext cx="128016" cy="2331720"/>
          </a:xfrm>
          <a:prstGeom prst="rect">
            <a:avLst/>
          </a:prstGeom>
          <a:solidFill>
            <a:srgbClr val="22863A"/>
          </a:solidFill>
          <a:ln w="12700">
            <a:solidFill>
              <a:srgbClr val="22863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754880" y="120700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8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B. Board Configuration (Tools Menu)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4754880" y="162763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Board: </a:t>
            </a:r>
            <a:pPr indent="0" marL="0">
              <a:buNone/>
            </a:pPr>
            <a:r>
              <a:rPr lang="en-US" sz="1050" b="1" dirty="0">
                <a:solidFill>
                  <a:srgbClr val="22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ESP32S3 Dev Module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4754880" y="1956816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CDC On Boot: </a:t>
            </a:r>
            <a:pPr indent="0" marL="0">
              <a:buNone/>
            </a:pPr>
            <a:r>
              <a:rPr lang="en-US" sz="1050" b="1" dirty="0">
                <a:solidFill>
                  <a:srgbClr val="22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4754880" y="22860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Size: </a:t>
            </a:r>
            <a:pPr indent="0" marL="0">
              <a:buNone/>
            </a:pPr>
            <a:r>
              <a:rPr lang="en-US" sz="1050" b="1" dirty="0">
                <a:solidFill>
                  <a:srgbClr val="22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16MB (128Mb)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4754880" y="2615184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Scheme: </a:t>
            </a:r>
            <a:pPr indent="0" marL="0">
              <a:buNone/>
            </a:pPr>
            <a:r>
              <a:rPr lang="en-US" sz="1050" b="1" dirty="0">
                <a:solidFill>
                  <a:srgbClr val="22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16M Flash (3MB APP/9.9MB FATFS)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4754880" y="294436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PSRAM: </a:t>
            </a:r>
            <a:pPr indent="0" marL="0">
              <a:buNone/>
            </a:pPr>
            <a:r>
              <a:rPr lang="en-US" sz="1050" b="1" dirty="0">
                <a:solidFill>
                  <a:srgbClr val="22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 PSRAM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4572000" y="3584448"/>
            <a:ext cx="4297680" cy="1097280"/>
          </a:xfrm>
          <a:prstGeom prst="rect">
            <a:avLst/>
          </a:prstGeom>
          <a:solidFill>
            <a:srgbClr val="1A2B4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4754880" y="367588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C. Install Required Library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4754880" y="4041648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&gt; Manage Libraries &gt; Search: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"ArduinoJson" by Benoit Blanchon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version 7.42 or newer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45720"/>
            <a:ext cx="777240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9144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2 — Code Configuration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82880" y="482803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CIJE | DFR1154 AI Camera Quick Start Guide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046720" y="48280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274320" y="74980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firmware .ino file in Arduino IDE and configure these settings before uploading: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82880" y="1115568"/>
            <a:ext cx="8778240" cy="1325880"/>
          </a:xfrm>
          <a:prstGeom prst="rect">
            <a:avLst/>
          </a:prstGeom>
          <a:solidFill>
            <a:srgbClr val="1A2B4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84048" y="12070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v3.x First-Run Setup Wizard (Recommended — No Code Editing Required)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84048" y="160020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Upload firmware as-is  </a:t>
            </a:r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2. Power on — camera broadcasts WiFi: "AI-Camera-Setup"  </a:t>
            </a:r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3. Connect phone/laptop to that network  </a:t>
            </a:r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4. Browser opens config portal  →  </a:t>
            </a:r>
            <a:pPr indent="0" marL="0">
              <a:buNone/>
            </a:pPr>
            <a:r>
              <a:rPr lang="en-US" sz="10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WiFi &amp; OpenAI API key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82880" y="2542032"/>
            <a:ext cx="877824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82880" y="2542032"/>
            <a:ext cx="128016" cy="2148840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1480" y="2633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35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Alternative: Hardcode Credentials in .ino File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11480" y="3017520"/>
            <a:ext cx="8321040" cy="1481328"/>
          </a:xfrm>
          <a:prstGeom prst="rect">
            <a:avLst/>
          </a:prstGeom>
          <a:solidFill>
            <a:srgbClr val="1E1E1E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3090672"/>
            <a:ext cx="8138160" cy="1335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char* ssid = </a:t>
            </a:r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"YourWiFiSSID"</a:t>
            </a:r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// ~line 46
</a:t>
            </a:r>
            <a:pPr indent="0" marL="0"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char* password = </a:t>
            </a:r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"YourWiFiPassword"</a:t>
            </a:r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// ~line 47
</a:t>
            </a:r>
            <a:pPr indent="0" marL="0"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char* OPENAI_API_KEY = </a:t>
            </a:r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"sk-proj-xxxxxxxxxxxxxxxxxxxx"</a:t>
            </a:r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// Your OpenAI key
</a:t>
            </a:r>
            <a:pPr indent="0" marL="0">
              <a:buNone/>
            </a:pPr>
            <a:r>
              <a:rPr lang="en-US" sz="105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Save file &gt; Verify (checkmark) &gt; Upload (arrow) to DFR1154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45720"/>
            <a:ext cx="777240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9144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3 — Upload Firmware &amp; First Boot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82880" y="482803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CIJE | DFR1154 AI Camera Quick Start Guide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046720" y="48280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82880" y="749808"/>
            <a:ext cx="420624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82880" y="749808"/>
            <a:ext cx="128016" cy="39319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4048" y="8412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Upload to DFR1154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47472" y="1234440"/>
            <a:ext cx="3931920" cy="4937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7472" y="1234440"/>
            <a:ext cx="457200" cy="493776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74904" y="1234440"/>
            <a:ext cx="4023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96112" y="13075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DFR1154 to computer via USB-A to USB-C cable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47472" y="1783080"/>
            <a:ext cx="3931920" cy="4937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47472" y="1783080"/>
            <a:ext cx="457200" cy="493776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74904" y="1783080"/>
            <a:ext cx="4023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896112" y="185623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Arduino IDE: Tools &gt; Port &gt; Select the COM port for your camera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47472" y="2331720"/>
            <a:ext cx="3931920" cy="4937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47472" y="2331720"/>
            <a:ext cx="457200" cy="493776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74904" y="2331720"/>
            <a:ext cx="4023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896112" y="240487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Upload button (right arrow) in Arduino IDE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47472" y="2880360"/>
            <a:ext cx="3931920" cy="4937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47472" y="2880360"/>
            <a:ext cx="457200" cy="493776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74904" y="2880360"/>
            <a:ext cx="4023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896112" y="29535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compilation and upload to complete (~2-3 minutes)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347472" y="3429000"/>
            <a:ext cx="3931920" cy="4937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347472" y="3429000"/>
            <a:ext cx="457200" cy="493776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74904" y="3429000"/>
            <a:ext cx="4023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896112" y="350215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Tools &gt; Serial Monitor, set baud to 115200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347472" y="3977640"/>
            <a:ext cx="3931920" cy="4937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347472" y="3977640"/>
            <a:ext cx="457200" cy="493776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74904" y="3977640"/>
            <a:ext cx="4023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896112" y="40507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 the IP address to appear in the serial output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617720" y="749808"/>
            <a:ext cx="4297680" cy="214884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4709160" y="8046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Monitor Output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4709160" y="1115568"/>
            <a:ext cx="4114800" cy="16642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====================================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ESP32-S3 OpenAI Interface v3.1.4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====================================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SD Card OK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Camera OK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PDM Microphone OK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Speaker OK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Connecting to WiFi...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WiFi connected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IP: 192.168.0.181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====================================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 Key status: Configured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Initialized counters: Images:0 Audio:0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4617720" y="2971800"/>
            <a:ext cx="4297680" cy="1709928"/>
          </a:xfrm>
          <a:prstGeom prst="rect">
            <a:avLst/>
          </a:prstGeom>
          <a:solidFill>
            <a:srgbClr val="22863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Text 36"/>
          <p:cNvSpPr/>
          <p:nvPr/>
        </p:nvSpPr>
        <p:spPr>
          <a:xfrm>
            <a:off x="4800600" y="30632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the Web Interface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4800600" y="347472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Note the IP address from Serial Monitor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Open a browser on the SAME WiFi network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Type the IP in the address bar:
</a:t>
            </a:r>
            <a:pPr indent="0" marL="0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http://192.168.0.XXX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45720"/>
            <a:ext cx="777240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9144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Interface — Layout &amp; Controls Overview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82880" y="482803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CIJE | DFR1154 AI Camera Quick Start Guide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046720" y="48280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82880" y="749808"/>
            <a:ext cx="434340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82880" y="749808"/>
            <a:ext cx="128016" cy="39319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4048" y="84124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LEFT PANEL — Camera &amp; Controls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84048" y="1234440"/>
            <a:ext cx="400507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Pairing Workflow Banner
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bar shows current step in the image/audio/analysis workflow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84048" y="1783080"/>
            <a:ext cx="400507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Stream / Start Stream
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button — toggles live camera video feed on/off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84048" y="2331720"/>
            <a:ext cx="400507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Button
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 — takes a still photo and saves to SD card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84048" y="2880360"/>
            <a:ext cx="400507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Button
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Shows/previews the most recently captured image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84048" y="3429000"/>
            <a:ext cx="400507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Indicator
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dot — shows camera stream is active and broadcasting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84048" y="3977640"/>
            <a:ext cx="400507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Preview Area
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MJPEG stream from the OV3660 wide-angle camera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709160" y="749808"/>
            <a:ext cx="420624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709160" y="749808"/>
            <a:ext cx="128016" cy="39319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910328" y="8412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7D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RIGHT PANEL — Audio &amp; Files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910328" y="1234440"/>
            <a:ext cx="38587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7D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Playback Bar
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player — plays back recorded WAV audio files with controls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910328" y="1783080"/>
            <a:ext cx="38587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7D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Button
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— starts/stops PDM mic recording (saves as REC_N.wav on SD)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910328" y="2331720"/>
            <a:ext cx="38587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7D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Button
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MAX98357A speaker for TTS playback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910328" y="2880360"/>
            <a:ext cx="38587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7D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for Export
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image to pair with audio prompt for OpenAI analysis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910328" y="3429000"/>
            <a:ext cx="38587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7D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for Export
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audio file to send as Whisper transcription prompt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4910328" y="3977640"/>
            <a:ext cx="38587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7D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Image/Audio Files (Resources)
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all files on SD card; Save to PC or Add to Export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45720"/>
            <a:ext cx="777240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9144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Interface — Analysis Controls &amp; Results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82880" y="482803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CIJE | DFR1154 AI Camera Quick Start Guide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046720" y="48280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82880" y="777240"/>
            <a:ext cx="2743200" cy="502920"/>
          </a:xfrm>
          <a:prstGeom prst="rect">
            <a:avLst/>
          </a:prstGeom>
          <a:solidFill>
            <a:srgbClr val="1A2B4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82880" y="7772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to OpenAI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82880" y="1325880"/>
            <a:ext cx="27432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82880" y="1325880"/>
            <a:ext cx="91440" cy="15544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7472" y="1389888"/>
            <a:ext cx="248716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the export image(s) + audio prompt to GPT-4 Vision and Whisper. Results appear in the analysis text box and are spoken via TTS speaker.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172968" y="777240"/>
            <a:ext cx="2743200" cy="502920"/>
          </a:xfrm>
          <a:prstGeom prst="rect">
            <a:avLst/>
          </a:prstGeom>
          <a:solidFill>
            <a:srgbClr val="22863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172968" y="7772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TTS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172968" y="1325880"/>
            <a:ext cx="27432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172968" y="1325880"/>
            <a:ext cx="91440" cy="1554480"/>
          </a:xfrm>
          <a:prstGeom prst="rect">
            <a:avLst/>
          </a:prstGeom>
          <a:solidFill>
            <a:srgbClr val="22863A"/>
          </a:solidFill>
          <a:ln w="12700">
            <a:solidFill>
              <a:srgbClr val="22863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337560" y="1389888"/>
            <a:ext cx="248716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Re-plays the most recent text-to-speech audio response through the MAX98357A speaker without re-calling the OpenAI API.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163056" y="777240"/>
            <a:ext cx="2743200" cy="502920"/>
          </a:xfrm>
          <a:prstGeom prst="rect">
            <a:avLst/>
          </a:prstGeom>
          <a:solidFill>
            <a:srgbClr val="D35400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163056" y="7772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Package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163056" y="1325880"/>
            <a:ext cx="27432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163056" y="1325880"/>
            <a:ext cx="91440" cy="1554480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27648" y="1389888"/>
            <a:ext cx="248716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a ZIP file to your PC containing the image(s), audio prompt, and OpenAI response text from the analysis session.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182880" y="3017520"/>
            <a:ext cx="877824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182880" y="3017520"/>
            <a:ext cx="128016" cy="166420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84048" y="3108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OpenAI Analysis Results Box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384048" y="3493008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 text area below the video panel displays the GPT-4 Vision response after analysis.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automatically spoken through the speaker using OpenAI TTS.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response is also saved to the SD card in /analysis/[timestamp]/ folder for archiving.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384048" y="43434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prompt result: "I can see a circuit board with an ESP32-S3 microcontroller. The OV3660 camera module is visible in the upper left..."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45720"/>
            <a:ext cx="777240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9144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Usage Process Flow — Step by Step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82880" y="482803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CIJE | DFR1154 AI Camera Quick Start Guide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046720" y="48280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274320" y="74980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workflow for capturing, analyzing, and archiving with the DFR1154 AI Camera: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37160" y="1143000"/>
            <a:ext cx="1600200" cy="1463040"/>
          </a:xfrm>
          <a:prstGeom prst="rect">
            <a:avLst/>
          </a:prstGeom>
          <a:solidFill>
            <a:srgbClr val="1A2B4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85800" y="1005840"/>
            <a:ext cx="502920" cy="502920"/>
          </a:xfrm>
          <a:prstGeom prst="ellipse">
            <a:avLst/>
          </a:prstGeom>
          <a:solidFill>
            <a:srgbClr val="1A2B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37160" y="11887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82880" y="1719072"/>
            <a:ext cx="150876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'Start Stream' — camera begins live MJPEG feed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1737360" y="1783080"/>
            <a:ext cx="137160" cy="1828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764792" y="1719072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1901952" y="1143000"/>
            <a:ext cx="1600200" cy="1463040"/>
          </a:xfrm>
          <a:prstGeom prst="rect">
            <a:avLst/>
          </a:prstGeom>
          <a:solidFill>
            <a:srgbClr val="1A5276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450592" y="1005840"/>
            <a:ext cx="502920" cy="502920"/>
          </a:xfrm>
          <a:prstGeom prst="ellipse">
            <a:avLst/>
          </a:prstGeom>
          <a:solidFill>
            <a:srgbClr val="1A527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450592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901952" y="11887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Capture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947672" y="1719072"/>
            <a:ext cx="150876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your subject, click 'Capture' to save to SD card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3502152" y="1783080"/>
            <a:ext cx="137160" cy="1828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529584" y="1719072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3666744" y="1143000"/>
            <a:ext cx="1600200" cy="1463040"/>
          </a:xfrm>
          <a:prstGeom prst="rect">
            <a:avLst/>
          </a:prstGeom>
          <a:solidFill>
            <a:srgbClr val="196F3D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215384" y="1005840"/>
            <a:ext cx="502920" cy="502920"/>
          </a:xfrm>
          <a:prstGeom prst="ellipse">
            <a:avLst/>
          </a:prstGeom>
          <a:solidFill>
            <a:srgbClr val="196F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215384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3666744" y="11887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Record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Audio Prompt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3712464" y="1719072"/>
            <a:ext cx="150876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'Record', speak your question/prompt, click 'Stop'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5266944" y="1783080"/>
            <a:ext cx="137160" cy="182880"/>
          </a:xfrm>
          <a:prstGeom prst="rect">
            <a:avLst/>
          </a:prstGeom>
          <a:solidFill>
            <a:srgbClr val="196F3D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294376" y="1719072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96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5431536" y="1143000"/>
            <a:ext cx="1600200" cy="1463040"/>
          </a:xfrm>
          <a:prstGeom prst="rect">
            <a:avLst/>
          </a:prstGeom>
          <a:solidFill>
            <a:srgbClr val="C07D10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5980176" y="1005840"/>
            <a:ext cx="502920" cy="502920"/>
          </a:xfrm>
          <a:prstGeom prst="ellipse">
            <a:avLst/>
          </a:prstGeom>
          <a:solidFill>
            <a:srgbClr val="C07D1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980176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5431536" y="11887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to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Export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5477256" y="1719072"/>
            <a:ext cx="150876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image + audio from Resources, click 'Add to Export'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7031736" y="1783080"/>
            <a:ext cx="137160" cy="182880"/>
          </a:xfrm>
          <a:prstGeom prst="rect">
            <a:avLst/>
          </a:prstGeom>
          <a:solidFill>
            <a:srgbClr val="C07D10"/>
          </a:solidFill>
          <a:ln w="12700">
            <a:solidFill>
              <a:srgbClr val="C07D1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059168" y="1719072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07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7196328" y="1143000"/>
            <a:ext cx="1600200" cy="1463040"/>
          </a:xfrm>
          <a:prstGeom prst="rect">
            <a:avLst/>
          </a:prstGeom>
          <a:solidFill>
            <a:srgbClr val="D35400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7744968" y="1005840"/>
            <a:ext cx="502920" cy="502920"/>
          </a:xfrm>
          <a:prstGeom prst="ellipse">
            <a:avLst/>
          </a:prstGeom>
          <a:solidFill>
            <a:srgbClr val="D354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744968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7196328" y="11887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Send to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OpenAI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7242048" y="1719072"/>
            <a:ext cx="150876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'Send to OpenAI' — analysis result spoken via speaker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182880" y="2788920"/>
            <a:ext cx="8778240" cy="3657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27432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 Analysis — Optional Steps: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274320" y="3218688"/>
            <a:ext cx="19659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274320" y="3218688"/>
            <a:ext cx="91440" cy="13716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57200" y="329184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Replay TTS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457200" y="3675888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Re-listen to AI response via speaker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2468880" y="3218688"/>
            <a:ext cx="19659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2468880" y="3218688"/>
            <a:ext cx="91440" cy="13716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2651760" y="329184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⬇ Export Package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2651760" y="3675888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ZIP with image + audio + response</a:t>
            </a:r>
            <a:endParaRPr lang="en-US" sz="950" dirty="0"/>
          </a:p>
        </p:txBody>
      </p:sp>
      <p:sp>
        <p:nvSpPr>
          <p:cNvPr id="52" name="Shape 49"/>
          <p:cNvSpPr/>
          <p:nvPr/>
        </p:nvSpPr>
        <p:spPr>
          <a:xfrm>
            <a:off x="4663440" y="3218688"/>
            <a:ext cx="19659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3" name="Shape 50"/>
          <p:cNvSpPr/>
          <p:nvPr/>
        </p:nvSpPr>
        <p:spPr>
          <a:xfrm>
            <a:off x="4663440" y="3218688"/>
            <a:ext cx="91440" cy="13716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4846320" y="329184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Delete Files</a:t>
            </a:r>
            <a:endParaRPr lang="en-US" sz="1100" dirty="0"/>
          </a:p>
        </p:txBody>
      </p:sp>
      <p:sp>
        <p:nvSpPr>
          <p:cNvPr id="55" name="Text 52"/>
          <p:cNvSpPr/>
          <p:nvPr/>
        </p:nvSpPr>
        <p:spPr>
          <a:xfrm>
            <a:off x="4846320" y="3675888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SD card files from Resources panel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6858000" y="3218688"/>
            <a:ext cx="19659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7" name="Shape 54"/>
          <p:cNvSpPr/>
          <p:nvPr/>
        </p:nvSpPr>
        <p:spPr>
          <a:xfrm>
            <a:off x="6858000" y="3218688"/>
            <a:ext cx="91440" cy="13716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7040880" y="329184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Reset &amp; Repeat</a:t>
            </a:r>
            <a:endParaRPr lang="en-US" sz="1100" dirty="0"/>
          </a:p>
        </p:txBody>
      </p:sp>
      <p:sp>
        <p:nvSpPr>
          <p:cNvPr id="59" name="Text 56"/>
          <p:cNvSpPr/>
          <p:nvPr/>
        </p:nvSpPr>
        <p:spPr>
          <a:xfrm>
            <a:off x="7040880" y="3675888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new capture session with fresh prompts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45720"/>
            <a:ext cx="777240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9144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Optional: Arduino UNO Automation Agent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82880" y="482803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CIJE | DFR1154 AI Camera Quick Start Guide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046720" y="48280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274320" y="74980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an Arduino UNO to the DFR1154 via the Gravity Serial connector to create automated AI workflows: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82880" y="1115568"/>
            <a:ext cx="4206240" cy="1920240"/>
          </a:xfrm>
          <a:prstGeom prst="rect">
            <a:avLst/>
          </a:prstGeom>
          <a:solidFill>
            <a:srgbClr val="1A2B4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65760" y="12070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Wiring: Arduino UNO ↔ DFR1154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20040" y="1627632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514600" y="1627632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DFR1154 Gravity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20040" y="1883664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2 (SoftSerial RX)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514600" y="1883664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D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43 (TX)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20040" y="2139696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3 (SoftSerial TX)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514600" y="2139696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D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44 (RX)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20040" y="2395728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GND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514600" y="2395728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D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GND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20040" y="2651760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3.3V or 5V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2514600" y="2651760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D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(power)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182880" y="3127248"/>
            <a:ext cx="42062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182880" y="3127248"/>
            <a:ext cx="128016" cy="15544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84048" y="32186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Serial API Commands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384048" y="3611880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CAPTURE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Take a photo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384048" y="3867912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ANALYZE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Send to OpenAI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384048" y="4123944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SPEAK:text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Speak via TTS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84048" y="4379976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Get system state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4617720" y="1115568"/>
            <a:ext cx="429768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617720" y="1115568"/>
            <a:ext cx="128016" cy="3566160"/>
          </a:xfrm>
          <a:prstGeom prst="rect">
            <a:avLst/>
          </a:prstGeom>
          <a:solidFill>
            <a:srgbClr val="22863A"/>
          </a:solidFill>
          <a:ln w="12700">
            <a:solidFill>
              <a:srgbClr val="22863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818888" y="12070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8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Classroom Use Cases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4818888" y="160020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sorting robot: Arduino moves objects, camera identifies and classifies them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door: motion sensor triggers capture + AI description announcement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lab: photograph experiments at timed intervals, AI provides analysis each time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system: Arduino scans items, AI camera identifies and logs them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game: physical buttons trigger AI-powered responses to visual prompts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monitor: periodic capture + AI analysis of plant/weather conditions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45720"/>
            <a:ext cx="777240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9144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Troubleshooting &amp; Quick Reference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82880" y="482803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CIJE | DFR1154 AI Camera Quick Start Guide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046720" y="48280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82880" y="777240"/>
            <a:ext cx="8778240" cy="576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82880" y="777240"/>
            <a:ext cx="109728" cy="5760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4048" y="81381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Board not found / COM port missing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251960" y="813816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Install CH340 or CP2102 USB driver. Try a different USB cable (some are charge-only). Press BOOT button while plugging in.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182880" y="1426464"/>
            <a:ext cx="8778240" cy="576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82880" y="1426464"/>
            <a:ext cx="109728" cy="5760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84048" y="14630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Upload fails: Brownout / timeout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251960" y="146304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Set Flash Size: 16MB and Partition: 16M Flash (3MB APP/9.9MB FATFS) in Tools. Use a powered USB hub.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182880" y="2075688"/>
            <a:ext cx="8778240" cy="576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182880" y="2075688"/>
            <a:ext cx="109728" cy="5760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84048" y="211226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Camera stream not showing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251960" y="2112264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Ensure USB CDC on Boot is Enabled. Refresh browser. Camera and PDM mic share I2S — audio recording stops stream briefly.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182880" y="2724912"/>
            <a:ext cx="8778240" cy="576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182880" y="2724912"/>
            <a:ext cx="109728" cy="5760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84048" y="276148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OpenAI returns 401 / 403 error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251960" y="2761488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Check API key is correct and has billing enabled at platform.openai.com. Key must not have extra spaces.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182880" y="3374136"/>
            <a:ext cx="8778240" cy="576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182880" y="3374136"/>
            <a:ext cx="109728" cy="5760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84048" y="341071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TTS / speaker not working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251960" y="3410712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Check speaker wiring on SPK connector (MX1.25-2P). MAX98357A uses GPIO 45 (BCLK), 46 (LRCLK), 42 (DIN).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182880" y="4023360"/>
            <a:ext cx="8778240" cy="576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182880" y="4023360"/>
            <a:ext cx="109728" cy="5760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84048" y="405993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SD card not detected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251960" y="4059936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Reformat SD card as FAT32. Use a card 16GB or smaller. Re-seat the card. Check SD LED on board during boot.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182880" y="4645152"/>
            <a:ext cx="8778240" cy="128016"/>
          </a:xfrm>
          <a:prstGeom prst="rect">
            <a:avLst/>
          </a:prstGeom>
          <a:solidFill>
            <a:srgbClr val="F5F5F0"/>
          </a:solidFill>
          <a:ln w="12700">
            <a:solidFill>
              <a:srgbClr val="F5F5F0"/>
            </a:solidFill>
            <a:prstDash val="solid"/>
          </a:ln>
        </p:spPr>
      </p:sp>
      <p:sp>
        <p:nvSpPr>
          <p:cNvPr id="33" name="Text 30">
            <a:hlinkClick r:id="rId2" tooltip=""/>
          </p:cNvPr>
          <p:cNvSpPr/>
          <p:nvPr/>
        </p:nvSpPr>
        <p:spPr>
          <a:xfrm>
            <a:off x="274320" y="4626864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DFRobot Wiki</a:t>
            </a:r>
            <a:endParaRPr lang="en-US" sz="800" dirty="0"/>
          </a:p>
        </p:txBody>
      </p:sp>
      <p:sp>
        <p:nvSpPr>
          <p:cNvPr id="34" name="Text 31">
            <a:hlinkClick r:id="rId3" tooltip=""/>
          </p:cNvPr>
          <p:cNvSpPr/>
          <p:nvPr/>
        </p:nvSpPr>
        <p:spPr>
          <a:xfrm>
            <a:off x="2468880" y="4626864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Arduino IDE Download</a:t>
            </a:r>
            <a:endParaRPr lang="en-US" sz="800" dirty="0"/>
          </a:p>
        </p:txBody>
      </p:sp>
      <p:sp>
        <p:nvSpPr>
          <p:cNvPr id="35" name="Text 32">
            <a:hlinkClick r:id="rId4" tooltip=""/>
          </p:cNvPr>
          <p:cNvSpPr/>
          <p:nvPr/>
        </p:nvSpPr>
        <p:spPr>
          <a:xfrm>
            <a:off x="4663440" y="4626864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OpenAI Platform</a:t>
            </a:r>
            <a:endParaRPr lang="en-US" sz="800" dirty="0"/>
          </a:p>
        </p:txBody>
      </p:sp>
      <p:sp>
        <p:nvSpPr>
          <p:cNvPr id="36" name="Text 33">
            <a:hlinkClick r:id="rId5" tooltip=""/>
          </p:cNvPr>
          <p:cNvSpPr/>
          <p:nvPr/>
        </p:nvSpPr>
        <p:spPr>
          <a:xfrm>
            <a:off x="6858000" y="4626864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ESP32 Setup Tutorial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DFR1154 AI Camera Quick Start &amp; Assembly Guide</dc:title>
  <dc:subject>PptxGenJS Presentation</dc:subject>
  <dc:creator>PptxGenJS</dc:creator>
  <cp:lastModifiedBy>PptxGenJS</cp:lastModifiedBy>
  <cp:revision>1</cp:revision>
  <dcterms:created xsi:type="dcterms:W3CDTF">2026-03-03T13:49:16Z</dcterms:created>
  <dcterms:modified xsi:type="dcterms:W3CDTF">2026-03-03T13:49:16Z</dcterms:modified>
</cp:coreProperties>
</file>