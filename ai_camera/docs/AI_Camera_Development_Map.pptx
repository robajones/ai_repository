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frobot.com/product-2665.html" TargetMode="External"/><Relationship Id="rId3" Type="http://schemas.openxmlformats.org/officeDocument/2006/relationships/hyperlink" Target="https://wiki.dfrobot.com/SKU_DFR1154" TargetMode="External"/><Relationship Id="rId4" Type="http://schemas.openxmlformats.org/officeDocument/2006/relationships/hyperlink" Target="https://www.dfrobot.com/product-1922.html" TargetMode="External"/><Relationship Id="rId1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frobot.com/product-2665.html" TargetMode="External"/><Relationship Id="rId3" Type="http://schemas.openxmlformats.org/officeDocument/2006/relationships/hyperlink" Target="https://wiki.dfrobot.com/SKU_DFR1154" TargetMode="External"/><Relationship Id="rId4" Type="http://schemas.openxmlformats.org/officeDocument/2006/relationships/hyperlink" Target="https://randomnerdtutorials.com/installing-the-esp32-board-in-arduino-ide-2/" TargetMode="External"/><Relationship Id="rId5" Type="http://schemas.openxmlformats.org/officeDocument/2006/relationships/hyperlink" Target="https://github.com/espressif/arduino-esp32" TargetMode="External"/><Relationship Id="rId6" Type="http://schemas.openxmlformats.org/officeDocument/2006/relationships/hyperlink" Target="https://platform.openai.com" TargetMode="External"/><Relationship Id="rId7" Type="http://schemas.openxmlformats.org/officeDocument/2006/relationships/hyperlink" Target="https://platform.openai.com/docs/guides/vision" TargetMode="External"/><Relationship Id="rId8" Type="http://schemas.openxmlformats.org/officeDocument/2006/relationships/hyperlink" Target="https://platform.openai.com/docs/guides/speech-to-text" TargetMode="External"/><Relationship Id="rId9" Type="http://schemas.openxmlformats.org/officeDocument/2006/relationships/hyperlink" Target="https://claude.ai" TargetMode="External"/><Relationship Id="rId10" Type="http://schemas.openxmlformats.org/officeDocument/2006/relationships/hyperlink" Target="https://arduinojson.org" TargetMode="External"/><Relationship Id="rId11" Type="http://schemas.openxmlformats.org/officeDocument/2006/relationships/hyperlink" Target="https://esphome.github.io/esp-web-tools/" TargetMode="External"/><Relationship Id="rId1" Type="http://schemas.openxmlformats.org/officeDocument/2006/relationships/image" Target="../media/image-9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320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Center for Innovation in Jewish Education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Camera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Development Map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286000" y="2880360"/>
            <a:ext cx="4572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Implementation: An AI-Powered Classroom Tool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Team: </a:t>
            </a:r>
            <a:pPr algn="ctr"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Orly Nader (Director of Innovation)  |  Bob Jones (Engineering Consultant)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September–November 2025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7D10"/>
          </a:solidFill>
          <a:ln w="12700">
            <a:solidFill>
              <a:srgbClr val="C07D1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Development Map — Overview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AI Camera Project Development Map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82296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822960"/>
            <a:ext cx="109728" cy="1600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914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65760" y="1353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Origin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AI concept for STEM education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54680" y="82296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822960"/>
            <a:ext cx="109728" cy="1600200"/>
          </a:xfrm>
          <a:prstGeom prst="rect">
            <a:avLst/>
          </a:prstGeom>
          <a:solidFill>
            <a:srgbClr val="1E4D6E"/>
          </a:solidFill>
          <a:ln w="12700">
            <a:solidFill>
              <a:srgbClr val="1E4D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37560" y="914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337560" y="1353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Brief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3756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Child's toy with visual &amp; audio AI interaction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26480" y="82296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822960"/>
            <a:ext cx="109728" cy="1600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914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309360" y="1353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Survey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0936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ESP32-based AI hardware landscape reviewed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82880" y="2633472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82880" y="2633472"/>
            <a:ext cx="109728" cy="160020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27249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1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365760" y="31638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65760" y="3547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tiers, cost comparisons &amp; limitations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154680" y="2633472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154680" y="2633472"/>
            <a:ext cx="109728" cy="1600200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37560" y="27249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6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3337560" y="31638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DFR1154 Discovery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337560" y="3547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DFRobot ESP32 AI Camera selected at ~$20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26480" y="2633472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26480" y="2633472"/>
            <a:ext cx="109728" cy="1600200"/>
          </a:xfrm>
          <a:prstGeom prst="rect">
            <a:avLst/>
          </a:prstGeom>
          <a:solidFill>
            <a:srgbClr val="C07D10"/>
          </a:solidFill>
          <a:ln w="12700">
            <a:solidFill>
              <a:srgbClr val="C07D1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09360" y="27249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7D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6309360" y="31638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Development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309360" y="3547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interface system built in weeks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Project Origin &amp; Participants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AI Camera Project Development Map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82296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822960"/>
            <a:ext cx="128016" cy="3840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11480" y="13258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interactive AI project to:
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Illustrate the state of AI technology
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Emphasize the designer's central role
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 on empathy &amp; human-centered design
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AI in discovery, feasibility &amp; implementation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822960"/>
            <a:ext cx="4297680" cy="173736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Participants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54880" y="12984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Orly Nader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Director of Innovation, CIJE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0" y="1737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Jones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Engineering Consultant, Former CIJE Mentor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2697480"/>
            <a:ext cx="4297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2697480"/>
            <a:ext cx="128016" cy="1965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Concept Discussion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00600" y="318211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Human-centered, engaging &amp; relatable project
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visual + auditory experiences
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Child's stuffed toy as initial form factor
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Animated eyes with face/eye tracking
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command &amp; conversational audio responses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&amp; 03 — Technology Survey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AI Camera Project Development Map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ESP32-based AI: camera + audio + LLM cloud connectivity (mid-September 2025)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2880" y="1188720"/>
            <a:ext cx="87782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2880" y="1188720"/>
            <a:ext cx="128016" cy="16642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1: Hardware-Based LLM (Limited)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164592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Husky Lens / Husky Lens 2 — fixed LLM modules, limited connectivity, $60+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hardware-locked AI with pre-trained object detection only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WiFi/cloud integration for classroom customization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Cost-prohibitive for school budgets with limited flexibility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1280160"/>
            <a:ext cx="2743200" cy="1463040"/>
          </a:xfrm>
          <a:prstGeom prst="rect">
            <a:avLst/>
          </a:prstGeom>
          <a:solidFill>
            <a:srgbClr val="F5F5F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1508760"/>
            <a:ext cx="265176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Cost-prohibitive &amp; inflexible for educational customization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2880" y="2971800"/>
            <a:ext cx="87782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2971800"/>
            <a:ext cx="128016" cy="1664208"/>
          </a:xfrm>
          <a:prstGeom prst="rect">
            <a:avLst/>
          </a:prstGeom>
          <a:solidFill>
            <a:srgbClr val="1A4A8B"/>
          </a:solidFill>
          <a:ln w="12700">
            <a:solidFill>
              <a:srgbClr val="1A4A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044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A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2: Advanced Hardware Platforms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342900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— powerful but $100+ with steep learning curve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Nicla Vision — capable but complex setup requirements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/ Jetson Nano — GPU-based, $300–$1000+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M5Stack AI — modular but expensive ecosystem lock-in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35040" y="3063240"/>
            <a:ext cx="2743200" cy="1463040"/>
          </a:xfrm>
          <a:prstGeom prst="rect">
            <a:avLst/>
          </a:prstGeom>
          <a:solidFill>
            <a:srgbClr val="F5F5F0"/>
          </a:solidFill>
          <a:ln w="12700">
            <a:solidFill>
              <a:srgbClr val="1A4A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291840"/>
            <a:ext cx="265176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Expensive with significant technical barrier for classroom use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— The Standout: DFRobot DFR1154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AI Camera Project Development Map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09360" y="804672"/>
            <a:ext cx="2606040" cy="1920240"/>
          </a:xfrm>
          <a:prstGeom prst="rect">
            <a:avLst/>
          </a:prstGeom>
          <a:solidFill>
            <a:srgbClr val="22863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960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~$20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6309360" y="18105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$60–$1000+ for alternatives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2880" y="804672"/>
            <a:ext cx="5897880" cy="128016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84048" y="8961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DFR1154 Hardware Specifications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" y="1261872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ESP32-S3R8 chip  |  OV3660 160° wide-angle camera  |  16MB Flash  |  MicroSD up to 16GB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4048" y="1508760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 PDM Microphone (GPIO 38/39)  |  MAX98357A I2S Speaker Amplifier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4048" y="1755648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 |  Type-C USB  |  Gravity Serial (GPIO 43/44)  |  IR illumination  |  ALS sensor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82880" y="2212848"/>
            <a:ext cx="58978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2880" y="2212848"/>
            <a:ext cx="128016" cy="2468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23042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Capabilities Revealed in DFRobot Wiki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11480" y="2697480"/>
            <a:ext cx="5394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capture and live streaming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capture via PDM microphone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ChatGPT / YOLO cloud connectivity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16MB flash + SD card storage up to 16GB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networking + Serial GPIO interface for external MCUs</a:t>
            </a:r>
            <a:endParaRPr lang="en-US" sz="1100" dirty="0"/>
          </a:p>
        </p:txBody>
      </p:sp>
      <p:sp>
        <p:nvSpPr>
          <p:cNvPr id="20" name="Text 17">
            <a:hlinkClick r:id="rId2" tooltip=""/>
          </p:cNvPr>
          <p:cNvSpPr/>
          <p:nvPr/>
        </p:nvSpPr>
        <p:spPr>
          <a:xfrm>
            <a:off x="6309360" y="29077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DFRobot DFR1154 Product Page</a:t>
            </a:r>
            <a:endParaRPr lang="en-US" sz="950" dirty="0"/>
          </a:p>
        </p:txBody>
      </p:sp>
      <p:sp>
        <p:nvSpPr>
          <p:cNvPr id="21" name="Text 18">
            <a:hlinkClick r:id="rId3" tooltip=""/>
          </p:cNvPr>
          <p:cNvSpPr/>
          <p:nvPr/>
        </p:nvSpPr>
        <p:spPr>
          <a:xfrm>
            <a:off x="6309360" y="3291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DFRobot Wiki &amp; Documentation</a:t>
            </a:r>
            <a:endParaRPr lang="en-US" sz="950" dirty="0"/>
          </a:p>
        </p:txBody>
      </p:sp>
      <p:sp>
        <p:nvSpPr>
          <p:cNvPr id="22" name="Text 19">
            <a:hlinkClick r:id="rId4" tooltip=""/>
          </p:cNvPr>
          <p:cNvSpPr/>
          <p:nvPr/>
        </p:nvSpPr>
        <p:spPr>
          <a:xfrm>
            <a:off x="6309360" y="36758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DFRobot Husky Lens Comparison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Initial Limitations Identified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AI Camera Project Development Map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DFR1154 showed strong promise, significant usability gaps were found in the stock firmware &amp; UI: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2880" y="1234440"/>
            <a:ext cx="877824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2880" y="1234440"/>
            <a:ext cx="109728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3258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Preview: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606040" y="1307592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lacked real-time camera view — impossible to see where camera was pointing when pairing images with prompts.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82880" y="1911096"/>
            <a:ext cx="877824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2880" y="1911096"/>
            <a:ext cx="109728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0025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Interface: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606040" y="198424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was problematic with poor workflow, confusing controls, and inconsistent OpenAI response handling.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82880" y="2587752"/>
            <a:ext cx="877824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82880" y="2587752"/>
            <a:ext cx="109728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6791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Archive Capability: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606040" y="2660904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facility to save images, audio prompts, or AI responses for later review, comparison, or classroom sharing.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82880" y="3264408"/>
            <a:ext cx="877824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82880" y="3264408"/>
            <a:ext cx="109728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3558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Documentation: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606040" y="3337560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DFRobot wiki offered limited real-world usage examples — insufficient detail for classroom integration guides.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82880" y="3941064"/>
            <a:ext cx="877824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82880" y="3941064"/>
            <a:ext cx="109728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0325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Underdeveloped Code: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606040" y="4014216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showed promising hardware capabilities in base code but lacked development needed for reliable educational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7D10"/>
          </a:solidFill>
          <a:ln w="12700">
            <a:solidFill>
              <a:srgbClr val="C07D1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— The Decision: Build a Better UI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7D10"/>
          </a:solidFill>
          <a:ln w="12700">
            <a:solidFill>
              <a:srgbClr val="C07D1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AI Camera Project Development Map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B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"Based on the limited success of the stock DFR1154 interface, we decided to pursue a design study on dramatically improving the user experience using Claude AI."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0" y="1691640"/>
            <a:ext cx="3657600" cy="502920"/>
          </a:xfrm>
          <a:prstGeom prst="rect">
            <a:avLst/>
          </a:prstGeom>
          <a:solidFill>
            <a:srgbClr val="E8A02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using Claude AI  (Late September 2025)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2331720"/>
            <a:ext cx="4297680" cy="2148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4231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streaming with real-time LIVE indicator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recording &amp; playback paired with images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file management — images and audio organized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Vision integration with prompt pairing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2331720"/>
            <a:ext cx="4297680" cy="2148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24231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(TTS) audio via MAX98357A speaker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package for archiving full analysis sessions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Serial Automation Agent interface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wizard with WiFi configuration portal (v3.x)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Firmware Evolution — Version Timeline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AI Camera Project Development Map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8229600" cy="8229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2496312"/>
            <a:ext cx="182880" cy="18288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804672"/>
            <a:ext cx="1554480" cy="160020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8778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v2.0.28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1216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490472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Analysis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252728" y="2404872"/>
            <a:ext cx="54864" cy="1737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70048" y="2496312"/>
            <a:ext cx="182880" cy="182880"/>
          </a:xfrm>
          <a:prstGeom prst="ellipse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67128" y="2834640"/>
            <a:ext cx="1554480" cy="1600200"/>
          </a:xfrm>
          <a:prstGeom prst="rect">
            <a:avLst/>
          </a:prstGeom>
          <a:solidFill>
            <a:srgbClr val="196F3D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167128" y="29077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v3.0.0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167128" y="3246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167128" y="35204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Edition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Mgr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916936" y="2660904"/>
            <a:ext cx="54864" cy="173736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34256" y="2496312"/>
            <a:ext cx="182880" cy="182880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31336" y="804672"/>
            <a:ext cx="1554480" cy="1600200"/>
          </a:xfrm>
          <a:prstGeom prst="rect">
            <a:avLst/>
          </a:prstGeom>
          <a:solidFill>
            <a:srgbClr val="7D3C9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831336" y="8778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v3.1.0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831336" y="1216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831336" y="1490472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IP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Wizard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81144" y="2404872"/>
            <a:ext cx="54864" cy="17373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98464" y="2496312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95544" y="2834640"/>
            <a:ext cx="1554480" cy="160020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495544" y="29077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v3.1.2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95544" y="3246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495544" y="35204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45352" y="2660904"/>
            <a:ext cx="54864" cy="1737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62672" y="2496312"/>
            <a:ext cx="182880" cy="182880"/>
          </a:xfrm>
          <a:prstGeom prst="ellipse">
            <a:avLst/>
          </a:prstGeom>
          <a:solidFill>
            <a:srgbClr val="C07D10"/>
          </a:solidFill>
          <a:ln w="12700">
            <a:solidFill>
              <a:srgbClr val="C07D1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59752" y="804672"/>
            <a:ext cx="1554480" cy="1600200"/>
          </a:xfrm>
          <a:prstGeom prst="rect">
            <a:avLst/>
          </a:prstGeom>
          <a:solidFill>
            <a:srgbClr val="C07D1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159752" y="8778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v3.1.4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159752" y="1216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159752" y="1490472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Auto-Play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Bug Fixes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909560" y="2404872"/>
            <a:ext cx="54864" cy="173736"/>
          </a:xfrm>
          <a:prstGeom prst="rect">
            <a:avLst/>
          </a:prstGeom>
          <a:solidFill>
            <a:srgbClr val="C07D10"/>
          </a:solidFill>
          <a:ln w="12700">
            <a:solidFill>
              <a:srgbClr val="C07D1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Links &amp; Resources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AI Camera Project Development Map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804672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804672"/>
            <a:ext cx="109728" cy="658368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859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11" name="Text 8">
            <a:hlinkClick r:id="rId2" tooltip=""/>
          </p:cNvPr>
          <p:cNvSpPr/>
          <p:nvPr/>
        </p:nvSpPr>
        <p:spPr>
          <a:xfrm>
            <a:off x="384048" y="10789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DFRobot DFR1154 Product Page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2880" y="1563624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563624"/>
            <a:ext cx="109728" cy="658368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6184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15" name="Text 12">
            <a:hlinkClick r:id="rId3" tooltip=""/>
          </p:cNvPr>
          <p:cNvSpPr/>
          <p:nvPr/>
        </p:nvSpPr>
        <p:spPr>
          <a:xfrm>
            <a:off x="384048" y="18379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DFRobot DFR1154 Wiki &amp; Documentation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82880" y="2322576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2880" y="2322576"/>
            <a:ext cx="109728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2377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800" dirty="0"/>
          </a:p>
        </p:txBody>
      </p:sp>
      <p:sp>
        <p:nvSpPr>
          <p:cNvPr id="19" name="Text 16">
            <a:hlinkClick r:id="rId4" tooltip=""/>
          </p:cNvPr>
          <p:cNvSpPr/>
          <p:nvPr/>
        </p:nvSpPr>
        <p:spPr>
          <a:xfrm>
            <a:off x="384048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ESP32 Board Setup — Random Nerd Tutorials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82880" y="3081528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82880" y="3081528"/>
            <a:ext cx="109728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3136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800" dirty="0"/>
          </a:p>
        </p:txBody>
      </p:sp>
      <p:sp>
        <p:nvSpPr>
          <p:cNvPr id="23" name="Text 20">
            <a:hlinkClick r:id="rId5" tooltip=""/>
          </p:cNvPr>
          <p:cNvSpPr/>
          <p:nvPr/>
        </p:nvSpPr>
        <p:spPr>
          <a:xfrm>
            <a:off x="384048" y="33558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Espressif ESP32 Arduino GitHub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82880" y="3840480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82880" y="3840480"/>
            <a:ext cx="109728" cy="6583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38953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API</a:t>
            </a:r>
            <a:endParaRPr lang="en-US" sz="800" dirty="0"/>
          </a:p>
        </p:txBody>
      </p:sp>
      <p:sp>
        <p:nvSpPr>
          <p:cNvPr id="27" name="Text 24">
            <a:hlinkClick r:id="rId6" tooltip=""/>
          </p:cNvPr>
          <p:cNvSpPr/>
          <p:nvPr/>
        </p:nvSpPr>
        <p:spPr>
          <a:xfrm>
            <a:off x="384048" y="41148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Platform (API Keys &amp; Docs)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63440" y="804672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63440" y="804672"/>
            <a:ext cx="109728" cy="6583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64608" y="859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API</a:t>
            </a:r>
            <a:endParaRPr lang="en-US" sz="800" dirty="0"/>
          </a:p>
        </p:txBody>
      </p:sp>
      <p:sp>
        <p:nvSpPr>
          <p:cNvPr id="31" name="Text 28">
            <a:hlinkClick r:id="rId7" tooltip=""/>
          </p:cNvPr>
          <p:cNvSpPr/>
          <p:nvPr/>
        </p:nvSpPr>
        <p:spPr>
          <a:xfrm>
            <a:off x="4864608" y="10789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GPT-4 Vision Documentation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63440" y="1563624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63440" y="1563624"/>
            <a:ext cx="109728" cy="6583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64608" y="16184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API</a:t>
            </a:r>
            <a:endParaRPr lang="en-US" sz="800" dirty="0"/>
          </a:p>
        </p:txBody>
      </p:sp>
      <p:sp>
        <p:nvSpPr>
          <p:cNvPr id="35" name="Text 32">
            <a:hlinkClick r:id="rId8" tooltip=""/>
          </p:cNvPr>
          <p:cNvSpPr/>
          <p:nvPr/>
        </p:nvSpPr>
        <p:spPr>
          <a:xfrm>
            <a:off x="4864608" y="18379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Whisper STT Documentation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663440" y="2322576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63440" y="2322576"/>
            <a:ext cx="109728" cy="658368"/>
          </a:xfrm>
          <a:prstGeom prst="rect">
            <a:avLst/>
          </a:prstGeom>
          <a:solidFill>
            <a:srgbClr val="C07D10"/>
          </a:solidFill>
          <a:ln w="12700">
            <a:solidFill>
              <a:srgbClr val="C07D1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64608" y="2377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7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</a:t>
            </a:r>
            <a:endParaRPr lang="en-US" sz="800" dirty="0"/>
          </a:p>
        </p:txBody>
      </p:sp>
      <p:sp>
        <p:nvSpPr>
          <p:cNvPr id="39" name="Text 36">
            <a:hlinkClick r:id="rId9" tooltip=""/>
          </p:cNvPr>
          <p:cNvSpPr/>
          <p:nvPr/>
        </p:nvSpPr>
        <p:spPr>
          <a:xfrm>
            <a:off x="4864608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AI by Anthropic (UI development)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663440" y="3081528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663440" y="3081528"/>
            <a:ext cx="10972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64608" y="3136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800" dirty="0"/>
          </a:p>
        </p:txBody>
      </p:sp>
      <p:sp>
        <p:nvSpPr>
          <p:cNvPr id="43" name="Text 40">
            <a:hlinkClick r:id="rId10" tooltip=""/>
          </p:cNvPr>
          <p:cNvSpPr/>
          <p:nvPr/>
        </p:nvSpPr>
        <p:spPr>
          <a:xfrm>
            <a:off x="4864608" y="33558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ArduinoJson by Benoit Blanchon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663440" y="3840480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663440" y="3840480"/>
            <a:ext cx="10972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64608" y="38953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800" dirty="0"/>
          </a:p>
        </p:txBody>
      </p:sp>
      <p:sp>
        <p:nvSpPr>
          <p:cNvPr id="47" name="Text 44">
            <a:hlinkClick r:id="rId11" tooltip=""/>
          </p:cNvPr>
          <p:cNvSpPr/>
          <p:nvPr/>
        </p:nvSpPr>
        <p:spPr>
          <a:xfrm>
            <a:off x="4864608" y="41148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 Web Tools (Web Flasher)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320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Center for Innovation in Jewish Education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Achieved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2057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$20 microcontroller, paired with Claude AI and thoughtful design,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a powerful classroom-ready AI learning platform — in just a few weeks.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2834640"/>
            <a:ext cx="4572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Horizon: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public documentation  |  Animated stuffed toy prototype  |  Classroom pilot workshops  |  Curriculum alignment (AI4K12, NGSS, CCSS)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7D10"/>
          </a:solidFill>
          <a:ln w="12700">
            <a:solidFill>
              <a:srgbClr val="C07D1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— AI Camera Project  |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Camera Project Development Map</dc:title>
  <dc:subject>PptxGenJS Presentation</dc:subject>
  <dc:creator>PptxGenJS</dc:creator>
  <cp:lastModifiedBy>PptxGenJS</cp:lastModifiedBy>
  <cp:revision>1</cp:revision>
  <dcterms:created xsi:type="dcterms:W3CDTF">2026-03-03T13:46:07Z</dcterms:created>
  <dcterms:modified xsi:type="dcterms:W3CDTF">2026-03-03T13:46:07Z</dcterms:modified>
</cp:coreProperties>
</file>