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63" d="100"/>
          <a:sy n="263" d="100"/>
        </p:scale>
        <p:origin x="293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327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espressif/arduino-esp32" TargetMode="External"/><Relationship Id="rId13" Type="http://schemas.openxmlformats.org/officeDocument/2006/relationships/hyperlink" Target="https://platform.openai.com/docs/guides/speech-to-text" TargetMode="External"/><Relationship Id="rId18" Type="http://schemas.openxmlformats.org/officeDocument/2006/relationships/hyperlink" Target="https://code.org/ai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arduino.cc/en/software" TargetMode="External"/><Relationship Id="rId12" Type="http://schemas.openxmlformats.org/officeDocument/2006/relationships/hyperlink" Target="https://platform.openai.com/docs/guides/vision" TargetMode="External"/><Relationship Id="rId17" Type="http://schemas.openxmlformats.org/officeDocument/2006/relationships/hyperlink" Target="https://appinventor.mit.edu" TargetMode="External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csunplugged.org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dfrobot.com" TargetMode="External"/><Relationship Id="rId11" Type="http://schemas.openxmlformats.org/officeDocument/2006/relationships/hyperlink" Target="https://platform.openai.com" TargetMode="External"/><Relationship Id="rId5" Type="http://schemas.openxmlformats.org/officeDocument/2006/relationships/hyperlink" Target="https://wiki.dfrobot.com/SKU_DFR1154" TargetMode="External"/><Relationship Id="rId15" Type="http://schemas.openxmlformats.org/officeDocument/2006/relationships/hyperlink" Target="https://ai4k12.org" TargetMode="External"/><Relationship Id="rId10" Type="http://schemas.openxmlformats.org/officeDocument/2006/relationships/hyperlink" Target="https://randomnerdtutorials.com/installing-esp32-arduino-ide-2-0/" TargetMode="External"/><Relationship Id="rId4" Type="http://schemas.openxmlformats.org/officeDocument/2006/relationships/hyperlink" Target="https://www.dfrobot.com/product-2863.html" TargetMode="External"/><Relationship Id="rId9" Type="http://schemas.openxmlformats.org/officeDocument/2006/relationships/hyperlink" Target="https://arduinojson.org" TargetMode="External"/><Relationship Id="rId14" Type="http://schemas.openxmlformats.org/officeDocument/2006/relationships/hyperlink" Target="https://platform.openai.com/docs/guides/text-to-speech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randomnerdtutorials.com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arduino.cc/en/software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latform.openai.com" TargetMode="External"/><Relationship Id="rId5" Type="http://schemas.openxmlformats.org/officeDocument/2006/relationships/hyperlink" Target="https://ai4k12.org" TargetMode="External"/><Relationship Id="rId10" Type="http://schemas.openxmlformats.org/officeDocument/2006/relationships/hyperlink" Target="https://iste.org/ai" TargetMode="External"/><Relationship Id="rId4" Type="http://schemas.openxmlformats.org/officeDocument/2006/relationships/hyperlink" Target="https://wiki.dfrobot.com/SKU_DFR1154" TargetMode="External"/><Relationship Id="rId9" Type="http://schemas.openxmlformats.org/officeDocument/2006/relationships/hyperlink" Target="https://code.org/a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82880"/>
            <a:ext cx="109728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14400"/>
            <a:ext cx="32004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STEM PROFESSIONAL DEVELOPMENT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DFR1154 AI Camera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457200" y="242316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AI Integration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Classroom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3794760"/>
            <a:ext cx="2651760" cy="868680"/>
          </a:xfrm>
          <a:prstGeom prst="rect">
            <a:avLst/>
          </a:prstGeom>
          <a:solidFill>
            <a:srgbClr val="1B3A5C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3840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5A623"/>
                </a:solidFill>
              </a:rPr>
              <a:t>DURATION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5720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90 Minutes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337560" y="3794760"/>
            <a:ext cx="2651760" cy="868680"/>
          </a:xfrm>
          <a:prstGeom prst="rect">
            <a:avLst/>
          </a:prstGeom>
          <a:solidFill>
            <a:srgbClr val="1B3A5C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337560" y="3840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5A623"/>
                </a:solidFill>
              </a:rPr>
              <a:t>FORMAT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33756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Interactive Workshop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17920" y="3794760"/>
            <a:ext cx="2651760" cy="868680"/>
          </a:xfrm>
          <a:prstGeom prst="rect">
            <a:avLst/>
          </a:prstGeom>
          <a:solidFill>
            <a:srgbClr val="1B3A5C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5A623"/>
                </a:solidFill>
              </a:rPr>
              <a:t>AUDIENCE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21792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STEM Educators (20–30)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Powered by OpenAI  |  ESP32-S3 Platform  |  Arduino IDE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"/>
            <a:ext cx="777240" cy="58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Session Agenda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365760" y="502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A623"/>
                </a:solidFill>
              </a:rPr>
              <a:t>90-Minute Interactive Workshop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82880" y="1051560"/>
            <a:ext cx="10058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82880" y="10515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 min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106984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1. Introduction &amp; Live Demo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25880" y="12527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Meet the team &amp; see AI camera in action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0" y="1124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0:00–0:05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82880" y="1527048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82880" y="1581912"/>
            <a:ext cx="1005840" cy="384048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82880" y="15819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 min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325880" y="16002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2. Workshop Overview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325880" y="178308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Materials, resources &amp; breakout objectives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43600" y="16550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0:05–0:15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82880" y="205740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82880" y="2112264"/>
            <a:ext cx="1005840" cy="384048"/>
          </a:xfrm>
          <a:prstGeom prst="rect">
            <a:avLst/>
          </a:prstGeom>
          <a:solidFill>
            <a:srgbClr val="E8961F"/>
          </a:solidFill>
          <a:ln w="12700">
            <a:solidFill>
              <a:srgbClr val="E8961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82880" y="211226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15 min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325880" y="21305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3. First Breakout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325880" y="23134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Assemble hardware, configure IDE, load firmware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943600" y="21854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0:15–0:30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82880" y="2587752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182880" y="2642616"/>
            <a:ext cx="1005840" cy="38404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82880" y="264261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 min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325880" y="266090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4. Check-In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325880" y="284378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Verify successful setup of all cameras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943600" y="2715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0:30–0:35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182880" y="3118104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182880" y="3172968"/>
            <a:ext cx="1005840" cy="3840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82880" y="31729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 min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325880" y="319125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5. Web App Tour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325880" y="33741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Interface walkthrough &amp; workflow demo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94360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0:35–0:45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182880" y="3648456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182880" y="3703320"/>
            <a:ext cx="100584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182880" y="3703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30 min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325880" y="372160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6. Second Breakout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1325880" y="390448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Explore AI analysis, build classroom applications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943600" y="3776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0:45–1:15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182880" y="4178808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182880" y="4233672"/>
            <a:ext cx="100584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182880" y="42336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15 min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325880" y="42519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7. Report-Out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1325880" y="443484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Share discoveries &amp; curriculum connections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5943600" y="43068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1:15–1:30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"/>
            <a:ext cx="777240" cy="58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is the DFR1154 AI Camera?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91440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4114800" cy="40233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4320" y="91440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5A623"/>
                </a:solidFill>
              </a:rPr>
              <a:t>HARDWARE HIGHLIGHTS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11480" y="1426464"/>
            <a:ext cx="7315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14264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ESP32-S3R8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103120" y="14264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Dual-core 240MHz + 8MB PSRAM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11480" y="1856232"/>
            <a:ext cx="7315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4360" y="18562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OV3660 Camera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103120" y="18562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160° wide-angle, infrared capable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1480" y="2286000"/>
            <a:ext cx="7315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4360" y="2286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PDM Microphone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103120" y="2286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Built-in I2S digital mic (GPIO 38/39)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2715768"/>
            <a:ext cx="7315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4360" y="2715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MAX98357 Amp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103120" y="27157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I2S speaker output for TTS audio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11480" y="3145536"/>
            <a:ext cx="7315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94360" y="31455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SD Card Slot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103120" y="31455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Expandable media storage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11480" y="3575304"/>
            <a:ext cx="7315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94360" y="35753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16MB Flash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103120" y="35753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Ample firmware + asset storage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11480" y="4005072"/>
            <a:ext cx="7315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94360" y="40050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VIN 3.7–15V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103120" y="40050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Flexible power input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754880" y="91440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754880" y="914400"/>
            <a:ext cx="411480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754880" y="91440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AI CAPABILITIES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892040" y="1426464"/>
            <a:ext cx="7315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074920" y="14264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GPT-4 Vision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583680" y="14264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Analyze captured images with AI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892040" y="1856232"/>
            <a:ext cx="7315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074920" y="18562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Whisper STT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583680" y="18562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Speech-to-text from PDM microphone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892040" y="2286000"/>
            <a:ext cx="7315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5074920" y="2286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TTS Playback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583680" y="2286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OpenAI text-to-speech via speaker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892040" y="2715768"/>
            <a:ext cx="7315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5074920" y="2715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Live Streaming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6583680" y="27157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Real-time camera feed in browser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892040" y="3145536"/>
            <a:ext cx="7315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5074920" y="31455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Gallery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6583680" y="31455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Timestamped SD card file system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4892040" y="3575304"/>
            <a:ext cx="7315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5074920" y="35753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Export Packages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6583680" y="35753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Download analysis + media bundles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4892040" y="4005072"/>
            <a:ext cx="7315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5074920" y="40050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Serial API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6583680" y="40050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Control external Arduino devices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A623"/>
                </a:solidFill>
              </a:rPr>
              <a:t>DFRobot SKU: DFR1154  |  ESP32-S3 AI Camera V1.0  |  Firmware v3.1.4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"/>
            <a:ext cx="777240" cy="58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Materials &amp; Requirements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914400"/>
            <a:ext cx="2788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2788920" cy="40233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4320" y="91440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REQUIRED HARDWARE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4048" y="1408176"/>
            <a:ext cx="2560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DFR1154 AI Camera Module (1 per participant)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USB-A to USB-C cable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Laptop (Windows, Mac, or Linux)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WiFi network with internet access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Optional: AI Camera Tripod Kit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Optional: Arduino UNO + mini breadboard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Optional: Small speaker (MX1.25-2P)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27832" y="914400"/>
            <a:ext cx="2788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27832" y="914400"/>
            <a:ext cx="2788920" cy="402336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227832" y="91440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SOFTWARE SETUP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337560" y="1408176"/>
            <a:ext cx="2560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Arduino IDE 2.x (free download)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ESP32 board package by Espressif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ArduinoJson library v7.42+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ESP32S3 Dev Module configuration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USB CDC On Boot: Enabled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Flash Size: 16MB (128Mb)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PSRAM: OPI PSRAM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81344" y="914400"/>
            <a:ext cx="2788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181344" y="914400"/>
            <a:ext cx="2788920" cy="402336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181344" y="91440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ACCOUNTS &amp; KEYS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91072" y="1408176"/>
            <a:ext cx="2560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OpenAI account (platform.openai.com)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Personal OpenAI API key (sk-...)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Pre-loaded API credits recommended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WiFi SSID + password for your venue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Web browser (Chrome recommended)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GitHub account (optional, for source)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SD Card 8–32GB (FAT32 formatted)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74320" y="4645152"/>
            <a:ext cx="8595360" cy="292608"/>
          </a:xfrm>
          <a:prstGeom prst="rect">
            <a:avLst/>
          </a:prstGeom>
          <a:solidFill>
            <a:srgbClr val="E8961F"/>
          </a:solidFill>
          <a:ln w="12700">
            <a:solidFill>
              <a:srgbClr val="E896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74320" y="464515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Estimated Cost: DFR1154 ~$35 USD  |  OpenAI API ~$0.05–$0.10 per analysis  |  Arduino IDE: Free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"/>
            <a:ext cx="777240" cy="58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Resource Links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914400"/>
            <a:ext cx="4206240" cy="1783080"/>
          </a:xfrm>
          <a:prstGeom prst="rect">
            <a:avLst/>
          </a:prstGeom>
          <a:solidFill>
            <a:srgbClr val="1B3A5C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420624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4320" y="914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HARDWARE</a:t>
            </a:r>
            <a:endParaRPr lang="en-US" sz="1000" dirty="0"/>
          </a:p>
        </p:txBody>
      </p:sp>
      <p:sp>
        <p:nvSpPr>
          <p:cNvPr id="8" name="Text 5">
            <a:hlinkClick r:id="rId4"/>
          </p:cNvPr>
          <p:cNvSpPr/>
          <p:nvPr/>
        </p:nvSpPr>
        <p:spPr>
          <a:xfrm>
            <a:off x="411480" y="13350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7DD3F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DFRobot DFR1154 Product Page</a:t>
            </a:r>
            <a:endParaRPr lang="en-US" sz="1050" dirty="0"/>
          </a:p>
        </p:txBody>
      </p:sp>
      <p:sp>
        <p:nvSpPr>
          <p:cNvPr id="9" name="Text 6">
            <a:hlinkClick r:id="rId5"/>
          </p:cNvPr>
          <p:cNvSpPr/>
          <p:nvPr/>
        </p:nvSpPr>
        <p:spPr>
          <a:xfrm>
            <a:off x="411480" y="1664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7DD3FC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DFR1154 Wiki &amp; Documentation</a:t>
            </a:r>
            <a:endParaRPr lang="en-US" sz="1050" dirty="0"/>
          </a:p>
        </p:txBody>
      </p:sp>
      <p:sp>
        <p:nvSpPr>
          <p:cNvPr id="10" name="Text 7">
            <a:hlinkClick r:id="rId4"/>
          </p:cNvPr>
          <p:cNvSpPr/>
          <p:nvPr/>
        </p:nvSpPr>
        <p:spPr>
          <a:xfrm>
            <a:off x="411480" y="1993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7DD3F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Purchase on DFRobot Store</a:t>
            </a:r>
            <a:endParaRPr lang="en-US" sz="1050" dirty="0"/>
          </a:p>
        </p:txBody>
      </p:sp>
      <p:sp>
        <p:nvSpPr>
          <p:cNvPr id="11" name="Text 8">
            <a:hlinkClick r:id="rId6"/>
          </p:cNvPr>
          <p:cNvSpPr/>
          <p:nvPr/>
        </p:nvSpPr>
        <p:spPr>
          <a:xfrm>
            <a:off x="411480" y="2322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7DD3FC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AI Camera Tripod Kit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09160" y="914400"/>
            <a:ext cx="4206240" cy="1783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E57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09160" y="914400"/>
            <a:ext cx="4206240" cy="347472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09160" y="914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SOFTWARE &amp; IDE</a:t>
            </a:r>
            <a:endParaRPr lang="en-US" sz="1000" dirty="0"/>
          </a:p>
        </p:txBody>
      </p:sp>
      <p:sp>
        <p:nvSpPr>
          <p:cNvPr id="15" name="Text 12">
            <a:hlinkClick r:id="rId7"/>
          </p:cNvPr>
          <p:cNvSpPr/>
          <p:nvPr/>
        </p:nvSpPr>
        <p:spPr>
          <a:xfrm>
            <a:off x="4846320" y="13350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7DD3FC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Arduino IDE 2.x Download</a:t>
            </a:r>
            <a:endParaRPr lang="en-US" sz="1050" dirty="0"/>
          </a:p>
        </p:txBody>
      </p:sp>
      <p:sp>
        <p:nvSpPr>
          <p:cNvPr id="16" name="Text 13">
            <a:hlinkClick r:id="rId8"/>
          </p:cNvPr>
          <p:cNvSpPr/>
          <p:nvPr/>
        </p:nvSpPr>
        <p:spPr>
          <a:xfrm>
            <a:off x="4846320" y="1664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7DD3FC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ESP32 Board Package (Espressif)</a:t>
            </a:r>
            <a:endParaRPr lang="en-US" sz="1050" dirty="0"/>
          </a:p>
        </p:txBody>
      </p:sp>
      <p:sp>
        <p:nvSpPr>
          <p:cNvPr id="17" name="Text 14">
            <a:hlinkClick r:id="rId9"/>
          </p:cNvPr>
          <p:cNvSpPr/>
          <p:nvPr/>
        </p:nvSpPr>
        <p:spPr>
          <a:xfrm>
            <a:off x="4846320" y="1993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7DD3FC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ArduinoJson Library (Blanchon)</a:t>
            </a:r>
            <a:endParaRPr lang="en-US" sz="1050" dirty="0"/>
          </a:p>
        </p:txBody>
      </p:sp>
      <p:sp>
        <p:nvSpPr>
          <p:cNvPr id="18" name="Text 15">
            <a:hlinkClick r:id="rId10"/>
          </p:cNvPr>
          <p:cNvSpPr/>
          <p:nvPr/>
        </p:nvSpPr>
        <p:spPr>
          <a:xfrm>
            <a:off x="4846320" y="2322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7DD3FC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Random Nerd ESP32 Setup Tutorial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74320" y="2926080"/>
            <a:ext cx="4206240" cy="1783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6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74320" y="2926080"/>
            <a:ext cx="4206240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74320" y="2926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OPENAI APIs</a:t>
            </a:r>
            <a:endParaRPr lang="en-US" sz="1000" dirty="0"/>
          </a:p>
        </p:txBody>
      </p:sp>
      <p:sp>
        <p:nvSpPr>
          <p:cNvPr id="22" name="Text 19">
            <a:hlinkClick r:id="rId11"/>
          </p:cNvPr>
          <p:cNvSpPr/>
          <p:nvPr/>
        </p:nvSpPr>
        <p:spPr>
          <a:xfrm>
            <a:off x="411480" y="33467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7DD3FC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OpenAI Platform (API Keys)</a:t>
            </a:r>
            <a:endParaRPr lang="en-US" sz="1050" dirty="0"/>
          </a:p>
        </p:txBody>
      </p:sp>
      <p:sp>
        <p:nvSpPr>
          <p:cNvPr id="23" name="Text 20">
            <a:hlinkClick r:id="rId12"/>
          </p:cNvPr>
          <p:cNvSpPr/>
          <p:nvPr/>
        </p:nvSpPr>
        <p:spPr>
          <a:xfrm>
            <a:off x="411480" y="3675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7DD3FC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GPT-4 Vision Documentation</a:t>
            </a:r>
            <a:endParaRPr lang="en-US" sz="1050" dirty="0"/>
          </a:p>
        </p:txBody>
      </p:sp>
      <p:sp>
        <p:nvSpPr>
          <p:cNvPr id="24" name="Text 21">
            <a:hlinkClick r:id="rId13"/>
          </p:cNvPr>
          <p:cNvSpPr/>
          <p:nvPr/>
        </p:nvSpPr>
        <p:spPr>
          <a:xfrm>
            <a:off x="411480" y="4005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7DD3FC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Whisper Speech-to-Text API</a:t>
            </a:r>
            <a:endParaRPr lang="en-US" sz="1050" dirty="0"/>
          </a:p>
        </p:txBody>
      </p:sp>
      <p:sp>
        <p:nvSpPr>
          <p:cNvPr id="25" name="Text 22">
            <a:hlinkClick r:id="rId14"/>
          </p:cNvPr>
          <p:cNvSpPr/>
          <p:nvPr/>
        </p:nvSpPr>
        <p:spPr>
          <a:xfrm>
            <a:off x="411480" y="43342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7DD3FC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Text-to-Speech API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709160" y="2926080"/>
            <a:ext cx="4206240" cy="1783080"/>
          </a:xfrm>
          <a:prstGeom prst="rect">
            <a:avLst/>
          </a:prstGeom>
          <a:solidFill>
            <a:srgbClr val="1B3A5C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709160" y="2926080"/>
            <a:ext cx="420624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709160" y="2926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CURRICULUM &amp; AI TOOLS</a:t>
            </a:r>
            <a:endParaRPr lang="en-US" sz="1000" dirty="0"/>
          </a:p>
        </p:txBody>
      </p:sp>
      <p:sp>
        <p:nvSpPr>
          <p:cNvPr id="29" name="Text 26">
            <a:hlinkClick r:id="rId15"/>
          </p:cNvPr>
          <p:cNvSpPr/>
          <p:nvPr/>
        </p:nvSpPr>
        <p:spPr>
          <a:xfrm>
            <a:off x="4846320" y="33467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7DD3FC"/>
                </a:solidFill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AI for K-12 Guidelines (AI4K12)</a:t>
            </a:r>
            <a:endParaRPr lang="en-US" sz="1050" dirty="0"/>
          </a:p>
        </p:txBody>
      </p:sp>
      <p:sp>
        <p:nvSpPr>
          <p:cNvPr id="30" name="Text 27">
            <a:hlinkClick r:id="rId16"/>
          </p:cNvPr>
          <p:cNvSpPr/>
          <p:nvPr/>
        </p:nvSpPr>
        <p:spPr>
          <a:xfrm>
            <a:off x="4846320" y="3675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7DD3FC"/>
                </a:solidFill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CS Unplugged AI Activities</a:t>
            </a:r>
            <a:endParaRPr lang="en-US" sz="1050" dirty="0"/>
          </a:p>
        </p:txBody>
      </p:sp>
      <p:sp>
        <p:nvSpPr>
          <p:cNvPr id="31" name="Text 28">
            <a:hlinkClick r:id="rId17"/>
          </p:cNvPr>
          <p:cNvSpPr/>
          <p:nvPr/>
        </p:nvSpPr>
        <p:spPr>
          <a:xfrm>
            <a:off x="4846320" y="4005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7DD3FC"/>
                </a:solidFill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MIT App Inventor AI Extensions</a:t>
            </a:r>
            <a:endParaRPr lang="en-US" sz="1050" dirty="0"/>
          </a:p>
        </p:txBody>
      </p:sp>
      <p:sp>
        <p:nvSpPr>
          <p:cNvPr id="32" name="Text 29">
            <a:hlinkClick r:id="rId18"/>
          </p:cNvPr>
          <p:cNvSpPr/>
          <p:nvPr/>
        </p:nvSpPr>
        <p:spPr>
          <a:xfrm>
            <a:off x="4846320" y="43342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7DD3FC"/>
                </a:solidFill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Code.org AI Curriculum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274320" y="4645152"/>
            <a:ext cx="8595360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274320" y="464515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All links are clickable in the digital version of this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"/>
            <a:ext cx="777240" cy="58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GPIO Pin Reference (DFR1154)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28600" y="868680"/>
            <a:ext cx="1645920" cy="3694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28600" y="868680"/>
            <a:ext cx="1645920" cy="347472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28600" y="8686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CAMERA (OV3660)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01752" y="1316736"/>
            <a:ext cx="1499616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0040" y="1316736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XCLK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435608" y="1344168"/>
            <a:ext cx="347472" cy="201168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435608" y="134416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01752" y="1645920"/>
            <a:ext cx="149961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0040" y="1645920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Y9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435608" y="1673352"/>
            <a:ext cx="347472" cy="201168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435608" y="16733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01752" y="1975104"/>
            <a:ext cx="1499616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20040" y="1975104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Y8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435608" y="2002536"/>
            <a:ext cx="347472" cy="201168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435608" y="200253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01752" y="2304288"/>
            <a:ext cx="149961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20040" y="2304288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Y7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435608" y="2331720"/>
            <a:ext cx="347472" cy="201168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435608" y="233172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01752" y="2633472"/>
            <a:ext cx="1499616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20040" y="263347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Y6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1435608" y="2660904"/>
            <a:ext cx="347472" cy="201168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435608" y="266090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14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01752" y="2962656"/>
            <a:ext cx="149961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320040" y="2962656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VSYNC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1435608" y="2990088"/>
            <a:ext cx="347472" cy="201168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435608" y="299008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301752" y="3291840"/>
            <a:ext cx="1499616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320040" y="3291840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HREF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1435608" y="3319272"/>
            <a:ext cx="347472" cy="201168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1435608" y="331927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01752" y="3621024"/>
            <a:ext cx="149961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320040" y="3621024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PCLK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1435608" y="3648456"/>
            <a:ext cx="347472" cy="201168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1435608" y="364845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15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01752" y="3950208"/>
            <a:ext cx="1499616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320040" y="3950208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SIOD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1435608" y="3977640"/>
            <a:ext cx="347472" cy="201168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1435608" y="39776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01752" y="4279392"/>
            <a:ext cx="149961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320040" y="427939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SIOC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1435608" y="4306824"/>
            <a:ext cx="347472" cy="201168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1435608" y="430682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2011680" y="868680"/>
            <a:ext cx="164592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2011680" y="868680"/>
            <a:ext cx="16459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2011680" y="8686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MICROPHONE (PDM)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2084832" y="1316736"/>
            <a:ext cx="1499616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2103120" y="1316736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PDM_CLK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3218688" y="1344168"/>
            <a:ext cx="347472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3218688" y="134416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38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2084832" y="1645920"/>
            <a:ext cx="149961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2103120" y="1645920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PDM_DATA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3218688" y="1673352"/>
            <a:ext cx="347472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3218688" y="16733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39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3794760" y="868680"/>
            <a:ext cx="164592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7"/>
          <p:cNvSpPr/>
          <p:nvPr/>
        </p:nvSpPr>
        <p:spPr>
          <a:xfrm>
            <a:off x="3794760" y="868680"/>
            <a:ext cx="1645920" cy="347472"/>
          </a:xfrm>
          <a:prstGeom prst="rect">
            <a:avLst/>
          </a:prstGeom>
          <a:solidFill>
            <a:srgbClr val="E8961F"/>
          </a:solidFill>
          <a:ln w="12700">
            <a:solidFill>
              <a:srgbClr val="E896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3794760" y="8686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SPEAKER (MAX98357)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3867912" y="1316736"/>
            <a:ext cx="1499616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3886200" y="1316736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BCLK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5001768" y="1344168"/>
            <a:ext cx="347472" cy="201168"/>
          </a:xfrm>
          <a:prstGeom prst="rect">
            <a:avLst/>
          </a:prstGeom>
          <a:solidFill>
            <a:srgbClr val="E8961F"/>
          </a:solidFill>
          <a:ln w="12700">
            <a:solidFill>
              <a:srgbClr val="E896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5001768" y="134416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45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3867912" y="1645920"/>
            <a:ext cx="149961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3886200" y="1645920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LRCLK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5001768" y="1673352"/>
            <a:ext cx="347472" cy="201168"/>
          </a:xfrm>
          <a:prstGeom prst="rect">
            <a:avLst/>
          </a:prstGeom>
          <a:solidFill>
            <a:srgbClr val="E8961F"/>
          </a:solidFill>
          <a:ln w="12700">
            <a:solidFill>
              <a:srgbClr val="E896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5001768" y="16733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46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3867912" y="1975104"/>
            <a:ext cx="1499616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8"/>
          <p:cNvSpPr/>
          <p:nvPr/>
        </p:nvSpPr>
        <p:spPr>
          <a:xfrm>
            <a:off x="3886200" y="1975104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DIN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5001768" y="2002536"/>
            <a:ext cx="347472" cy="201168"/>
          </a:xfrm>
          <a:prstGeom prst="rect">
            <a:avLst/>
          </a:prstGeom>
          <a:solidFill>
            <a:srgbClr val="E8961F"/>
          </a:solidFill>
          <a:ln w="12700">
            <a:solidFill>
              <a:srgbClr val="E896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5001768" y="200253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42</a:t>
            </a:r>
            <a:endParaRPr lang="en-US" sz="900" dirty="0"/>
          </a:p>
        </p:txBody>
      </p:sp>
      <p:sp>
        <p:nvSpPr>
          <p:cNvPr id="74" name="Shape 71"/>
          <p:cNvSpPr/>
          <p:nvPr/>
        </p:nvSpPr>
        <p:spPr>
          <a:xfrm>
            <a:off x="3867912" y="2304288"/>
            <a:ext cx="149961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2"/>
          <p:cNvSpPr/>
          <p:nvPr/>
        </p:nvSpPr>
        <p:spPr>
          <a:xfrm>
            <a:off x="3886200" y="2304288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GAIN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5001768" y="2331720"/>
            <a:ext cx="347472" cy="201168"/>
          </a:xfrm>
          <a:prstGeom prst="rect">
            <a:avLst/>
          </a:prstGeom>
          <a:solidFill>
            <a:srgbClr val="E8961F"/>
          </a:solidFill>
          <a:ln w="12700">
            <a:solidFill>
              <a:srgbClr val="E896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4"/>
          <p:cNvSpPr/>
          <p:nvPr/>
        </p:nvSpPr>
        <p:spPr>
          <a:xfrm>
            <a:off x="5001768" y="233172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41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3867912" y="2633472"/>
            <a:ext cx="1499616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6"/>
          <p:cNvSpPr/>
          <p:nvPr/>
        </p:nvSpPr>
        <p:spPr>
          <a:xfrm>
            <a:off x="3886200" y="263347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MODE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5001768" y="2660904"/>
            <a:ext cx="347472" cy="201168"/>
          </a:xfrm>
          <a:prstGeom prst="rect">
            <a:avLst/>
          </a:prstGeom>
          <a:solidFill>
            <a:srgbClr val="E8961F"/>
          </a:solidFill>
          <a:ln w="12700">
            <a:solidFill>
              <a:srgbClr val="E896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8"/>
          <p:cNvSpPr/>
          <p:nvPr/>
        </p:nvSpPr>
        <p:spPr>
          <a:xfrm>
            <a:off x="5001768" y="266090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40</a:t>
            </a:r>
            <a:endParaRPr lang="en-US" sz="900" dirty="0"/>
          </a:p>
        </p:txBody>
      </p:sp>
      <p:sp>
        <p:nvSpPr>
          <p:cNvPr id="82" name="Shape 79"/>
          <p:cNvSpPr/>
          <p:nvPr/>
        </p:nvSpPr>
        <p:spPr>
          <a:xfrm>
            <a:off x="5577840" y="868680"/>
            <a:ext cx="16459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3" name="Shape 80"/>
          <p:cNvSpPr/>
          <p:nvPr/>
        </p:nvSpPr>
        <p:spPr>
          <a:xfrm>
            <a:off x="5577840" y="868680"/>
            <a:ext cx="1645920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1"/>
          <p:cNvSpPr/>
          <p:nvPr/>
        </p:nvSpPr>
        <p:spPr>
          <a:xfrm>
            <a:off x="5577840" y="8686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SD CARD</a:t>
            </a:r>
            <a:endParaRPr lang="en-US" sz="850" dirty="0"/>
          </a:p>
        </p:txBody>
      </p:sp>
      <p:sp>
        <p:nvSpPr>
          <p:cNvPr id="85" name="Shape 82"/>
          <p:cNvSpPr/>
          <p:nvPr/>
        </p:nvSpPr>
        <p:spPr>
          <a:xfrm>
            <a:off x="5650992" y="1316736"/>
            <a:ext cx="1499616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3"/>
          <p:cNvSpPr/>
          <p:nvPr/>
        </p:nvSpPr>
        <p:spPr>
          <a:xfrm>
            <a:off x="5669280" y="1316736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MO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6784848" y="1344168"/>
            <a:ext cx="347472" cy="20116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5"/>
          <p:cNvSpPr/>
          <p:nvPr/>
        </p:nvSpPr>
        <p:spPr>
          <a:xfrm>
            <a:off x="6784848" y="134416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  <p:sp>
        <p:nvSpPr>
          <p:cNvPr id="89" name="Shape 86"/>
          <p:cNvSpPr/>
          <p:nvPr/>
        </p:nvSpPr>
        <p:spPr>
          <a:xfrm>
            <a:off x="5650992" y="1645920"/>
            <a:ext cx="149961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7"/>
          <p:cNvSpPr/>
          <p:nvPr/>
        </p:nvSpPr>
        <p:spPr>
          <a:xfrm>
            <a:off x="5669280" y="1645920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MI</a:t>
            </a:r>
            <a:endParaRPr lang="en-US" sz="1000" dirty="0"/>
          </a:p>
        </p:txBody>
      </p:sp>
      <p:sp>
        <p:nvSpPr>
          <p:cNvPr id="91" name="Shape 88"/>
          <p:cNvSpPr/>
          <p:nvPr/>
        </p:nvSpPr>
        <p:spPr>
          <a:xfrm>
            <a:off x="6784848" y="1673352"/>
            <a:ext cx="347472" cy="20116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89"/>
          <p:cNvSpPr/>
          <p:nvPr/>
        </p:nvSpPr>
        <p:spPr>
          <a:xfrm>
            <a:off x="6784848" y="16733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13</a:t>
            </a:r>
            <a:endParaRPr lang="en-US" sz="900" dirty="0"/>
          </a:p>
        </p:txBody>
      </p:sp>
      <p:sp>
        <p:nvSpPr>
          <p:cNvPr id="93" name="Shape 90"/>
          <p:cNvSpPr/>
          <p:nvPr/>
        </p:nvSpPr>
        <p:spPr>
          <a:xfrm>
            <a:off x="5650992" y="1975104"/>
            <a:ext cx="1499616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1"/>
          <p:cNvSpPr/>
          <p:nvPr/>
        </p:nvSpPr>
        <p:spPr>
          <a:xfrm>
            <a:off x="5669280" y="1975104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SCLK</a:t>
            </a:r>
            <a:endParaRPr lang="en-US" sz="1000" dirty="0"/>
          </a:p>
        </p:txBody>
      </p:sp>
      <p:sp>
        <p:nvSpPr>
          <p:cNvPr id="95" name="Shape 92"/>
          <p:cNvSpPr/>
          <p:nvPr/>
        </p:nvSpPr>
        <p:spPr>
          <a:xfrm>
            <a:off x="6784848" y="2002536"/>
            <a:ext cx="347472" cy="20116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3"/>
          <p:cNvSpPr/>
          <p:nvPr/>
        </p:nvSpPr>
        <p:spPr>
          <a:xfrm>
            <a:off x="6784848" y="200253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12</a:t>
            </a:r>
            <a:endParaRPr lang="en-US" sz="900" dirty="0"/>
          </a:p>
        </p:txBody>
      </p:sp>
      <p:sp>
        <p:nvSpPr>
          <p:cNvPr id="97" name="Shape 94"/>
          <p:cNvSpPr/>
          <p:nvPr/>
        </p:nvSpPr>
        <p:spPr>
          <a:xfrm>
            <a:off x="5650992" y="2304288"/>
            <a:ext cx="149961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5"/>
          <p:cNvSpPr/>
          <p:nvPr/>
        </p:nvSpPr>
        <p:spPr>
          <a:xfrm>
            <a:off x="5669280" y="2304288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CS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6784848" y="2331720"/>
            <a:ext cx="347472" cy="20116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7"/>
          <p:cNvSpPr/>
          <p:nvPr/>
        </p:nvSpPr>
        <p:spPr>
          <a:xfrm>
            <a:off x="6784848" y="233172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101" name="Shape 98"/>
          <p:cNvSpPr/>
          <p:nvPr/>
        </p:nvSpPr>
        <p:spPr>
          <a:xfrm>
            <a:off x="7360920" y="868680"/>
            <a:ext cx="1645920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2" name="Shape 99"/>
          <p:cNvSpPr/>
          <p:nvPr/>
        </p:nvSpPr>
        <p:spPr>
          <a:xfrm>
            <a:off x="7360920" y="868680"/>
            <a:ext cx="164592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0"/>
          <p:cNvSpPr/>
          <p:nvPr/>
        </p:nvSpPr>
        <p:spPr>
          <a:xfrm>
            <a:off x="7360920" y="8686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OTHER</a:t>
            </a:r>
            <a:endParaRPr lang="en-US" sz="850" dirty="0"/>
          </a:p>
        </p:txBody>
      </p:sp>
      <p:sp>
        <p:nvSpPr>
          <p:cNvPr id="104" name="Shape 101"/>
          <p:cNvSpPr/>
          <p:nvPr/>
        </p:nvSpPr>
        <p:spPr>
          <a:xfrm>
            <a:off x="7434072" y="1316736"/>
            <a:ext cx="1499616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2"/>
          <p:cNvSpPr/>
          <p:nvPr/>
        </p:nvSpPr>
        <p:spPr>
          <a:xfrm>
            <a:off x="7452360" y="1316736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LED</a:t>
            </a:r>
            <a:endParaRPr lang="en-US" sz="1000" dirty="0"/>
          </a:p>
        </p:txBody>
      </p:sp>
      <p:sp>
        <p:nvSpPr>
          <p:cNvPr id="106" name="Shape 103"/>
          <p:cNvSpPr/>
          <p:nvPr/>
        </p:nvSpPr>
        <p:spPr>
          <a:xfrm>
            <a:off x="8567928" y="1344168"/>
            <a:ext cx="347472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4"/>
          <p:cNvSpPr/>
          <p:nvPr/>
        </p:nvSpPr>
        <p:spPr>
          <a:xfrm>
            <a:off x="8567928" y="134416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08" name="Shape 105"/>
          <p:cNvSpPr/>
          <p:nvPr/>
        </p:nvSpPr>
        <p:spPr>
          <a:xfrm>
            <a:off x="7434072" y="1645920"/>
            <a:ext cx="149961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6"/>
          <p:cNvSpPr/>
          <p:nvPr/>
        </p:nvSpPr>
        <p:spPr>
          <a:xfrm>
            <a:off x="7452360" y="1645920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IR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8567928" y="1673352"/>
            <a:ext cx="347472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8"/>
          <p:cNvSpPr/>
          <p:nvPr/>
        </p:nvSpPr>
        <p:spPr>
          <a:xfrm>
            <a:off x="8567928" y="16733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47</a:t>
            </a:r>
            <a:endParaRPr lang="en-US" sz="900" dirty="0"/>
          </a:p>
        </p:txBody>
      </p:sp>
      <p:sp>
        <p:nvSpPr>
          <p:cNvPr id="112" name="Shape 109"/>
          <p:cNvSpPr/>
          <p:nvPr/>
        </p:nvSpPr>
        <p:spPr>
          <a:xfrm>
            <a:off x="7434072" y="1975104"/>
            <a:ext cx="1499616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0"/>
          <p:cNvSpPr/>
          <p:nvPr/>
        </p:nvSpPr>
        <p:spPr>
          <a:xfrm>
            <a:off x="7452360" y="1975104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BOOT</a:t>
            </a:r>
            <a:endParaRPr lang="en-US" sz="1000" dirty="0"/>
          </a:p>
        </p:txBody>
      </p:sp>
      <p:sp>
        <p:nvSpPr>
          <p:cNvPr id="114" name="Shape 111"/>
          <p:cNvSpPr/>
          <p:nvPr/>
        </p:nvSpPr>
        <p:spPr>
          <a:xfrm>
            <a:off x="8567928" y="2002536"/>
            <a:ext cx="347472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2"/>
          <p:cNvSpPr/>
          <p:nvPr/>
        </p:nvSpPr>
        <p:spPr>
          <a:xfrm>
            <a:off x="8567928" y="200253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</a:t>
            </a:r>
            <a:endParaRPr lang="en-US" sz="900" dirty="0"/>
          </a:p>
        </p:txBody>
      </p:sp>
      <p:sp>
        <p:nvSpPr>
          <p:cNvPr id="116" name="Shape 113"/>
          <p:cNvSpPr/>
          <p:nvPr/>
        </p:nvSpPr>
        <p:spPr>
          <a:xfrm>
            <a:off x="7434072" y="2304288"/>
            <a:ext cx="149961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4"/>
          <p:cNvSpPr/>
          <p:nvPr/>
        </p:nvSpPr>
        <p:spPr>
          <a:xfrm>
            <a:off x="7452360" y="2304288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TX</a:t>
            </a:r>
            <a:endParaRPr lang="en-US" sz="1000" dirty="0"/>
          </a:p>
        </p:txBody>
      </p:sp>
      <p:sp>
        <p:nvSpPr>
          <p:cNvPr id="118" name="Shape 115"/>
          <p:cNvSpPr/>
          <p:nvPr/>
        </p:nvSpPr>
        <p:spPr>
          <a:xfrm>
            <a:off x="8567928" y="2331720"/>
            <a:ext cx="347472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6"/>
          <p:cNvSpPr/>
          <p:nvPr/>
        </p:nvSpPr>
        <p:spPr>
          <a:xfrm>
            <a:off x="8567928" y="233172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43</a:t>
            </a:r>
            <a:endParaRPr lang="en-US" sz="900" dirty="0"/>
          </a:p>
        </p:txBody>
      </p:sp>
      <p:sp>
        <p:nvSpPr>
          <p:cNvPr id="120" name="Shape 117"/>
          <p:cNvSpPr/>
          <p:nvPr/>
        </p:nvSpPr>
        <p:spPr>
          <a:xfrm>
            <a:off x="7434072" y="2633472"/>
            <a:ext cx="1499616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8"/>
          <p:cNvSpPr/>
          <p:nvPr/>
        </p:nvSpPr>
        <p:spPr>
          <a:xfrm>
            <a:off x="7452360" y="263347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RX</a:t>
            </a:r>
            <a:endParaRPr lang="en-US" sz="1000" dirty="0"/>
          </a:p>
        </p:txBody>
      </p:sp>
      <p:sp>
        <p:nvSpPr>
          <p:cNvPr id="122" name="Shape 119"/>
          <p:cNvSpPr/>
          <p:nvPr/>
        </p:nvSpPr>
        <p:spPr>
          <a:xfrm>
            <a:off x="8567928" y="2660904"/>
            <a:ext cx="347472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0"/>
          <p:cNvSpPr/>
          <p:nvPr/>
        </p:nvSpPr>
        <p:spPr>
          <a:xfrm>
            <a:off x="8567928" y="266090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44</a:t>
            </a:r>
            <a:endParaRPr lang="en-US" sz="900" dirty="0"/>
          </a:p>
        </p:txBody>
      </p:sp>
      <p:sp>
        <p:nvSpPr>
          <p:cNvPr id="124" name="Shape 121"/>
          <p:cNvSpPr/>
          <p:nvPr/>
        </p:nvSpPr>
        <p:spPr>
          <a:xfrm>
            <a:off x="7434072" y="2962656"/>
            <a:ext cx="149961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2"/>
          <p:cNvSpPr/>
          <p:nvPr/>
        </p:nvSpPr>
        <p:spPr>
          <a:xfrm>
            <a:off x="7452360" y="2962656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SDA</a:t>
            </a:r>
            <a:endParaRPr lang="en-US" sz="1000" dirty="0"/>
          </a:p>
        </p:txBody>
      </p:sp>
      <p:sp>
        <p:nvSpPr>
          <p:cNvPr id="126" name="Shape 123"/>
          <p:cNvSpPr/>
          <p:nvPr/>
        </p:nvSpPr>
        <p:spPr>
          <a:xfrm>
            <a:off x="8567928" y="2990088"/>
            <a:ext cx="347472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24"/>
          <p:cNvSpPr/>
          <p:nvPr/>
        </p:nvSpPr>
        <p:spPr>
          <a:xfrm>
            <a:off x="8567928" y="299008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128" name="Shape 125"/>
          <p:cNvSpPr/>
          <p:nvPr/>
        </p:nvSpPr>
        <p:spPr>
          <a:xfrm>
            <a:off x="7434072" y="3291840"/>
            <a:ext cx="1499616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6"/>
          <p:cNvSpPr/>
          <p:nvPr/>
        </p:nvSpPr>
        <p:spPr>
          <a:xfrm>
            <a:off x="7452360" y="3291840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SCL</a:t>
            </a:r>
            <a:endParaRPr lang="en-US" sz="1000" dirty="0"/>
          </a:p>
        </p:txBody>
      </p:sp>
      <p:sp>
        <p:nvSpPr>
          <p:cNvPr id="130" name="Shape 127"/>
          <p:cNvSpPr/>
          <p:nvPr/>
        </p:nvSpPr>
        <p:spPr>
          <a:xfrm>
            <a:off x="8567928" y="3319272"/>
            <a:ext cx="347472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8"/>
          <p:cNvSpPr/>
          <p:nvPr/>
        </p:nvSpPr>
        <p:spPr>
          <a:xfrm>
            <a:off x="8567928" y="331927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132" name="Shape 129"/>
          <p:cNvSpPr/>
          <p:nvPr/>
        </p:nvSpPr>
        <p:spPr>
          <a:xfrm>
            <a:off x="228600" y="4498848"/>
            <a:ext cx="8686800" cy="438912"/>
          </a:xfrm>
          <a:prstGeom prst="rect">
            <a:avLst/>
          </a:prstGeom>
          <a:solidFill>
            <a:srgbClr val="FFF3CD"/>
          </a:solidFill>
          <a:ln w="12700">
            <a:solidFill>
              <a:srgbClr val="E896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0"/>
          <p:cNvSpPr/>
          <p:nvPr/>
        </p:nvSpPr>
        <p:spPr>
          <a:xfrm>
            <a:off x="320040" y="449884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Note: Camera &amp; Audio share I2S_NUM_0 — they cannot run simultaneously. Use blocking recordWAV() to avoid conflicts.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"/>
            <a:ext cx="777240" cy="58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Arduino IDE Configuration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28600" y="96012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2860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1248" y="9509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Add ESP32 Board URL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" y="12070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File → Preferences → Additional Boards Manager URLs: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41248" y="1408176"/>
            <a:ext cx="8046720" cy="25603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86968" y="140817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https://raw.githubusercontent.com/espressif/arduino-esp32/gh-pages/package_esp32_index.json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28600" y="1783080"/>
            <a:ext cx="502920" cy="502920"/>
          </a:xfrm>
          <a:prstGeom prst="ellipse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286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41248" y="17739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Install ESP32 by Espressif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41248" y="20299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Tools → Boards Manager → Search "ESP32" → Install "esp32 by Espressif Systems"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41248" y="2231136"/>
            <a:ext cx="8046720" cy="25603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86968" y="223113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timeout occurs: set connection_timeout: 600s in arduino-cli.yaml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28600" y="2606040"/>
            <a:ext cx="502920" cy="502920"/>
          </a:xfrm>
          <a:prstGeom prst="ellipse">
            <a:avLst/>
          </a:prstGeom>
          <a:solidFill>
            <a:srgbClr val="E8961F"/>
          </a:solidFill>
          <a:ln w="12700">
            <a:solidFill>
              <a:srgbClr val="E8961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286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41248" y="2596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Select Board &amp; Settings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41248" y="28529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Tools → Board: "ESP32S3 Dev Module"  |  Then configure: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41248" y="3054096"/>
            <a:ext cx="8046720" cy="25603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86968" y="305409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USB CDC On Boot: Enabled  |  Flash Size: 16MB (128Mb)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Partition: 16M Flash (3MB APP/9.9MB FATFS)  |  PSRAM: OPI PSRAM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28600" y="3429000"/>
            <a:ext cx="502920" cy="50292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2860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41248" y="3419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Install ArduinoJson Library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41248" y="367588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Sketch → Include Library → Manage Libraries → Search "ArduinoJson"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841248" y="3877056"/>
            <a:ext cx="8046720" cy="25603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86968" y="387705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ArduinoJson by Benoit Blanchon  |  Version 7.42 or newer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28600" y="4251960"/>
            <a:ext cx="502920" cy="5029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2860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41248" y="4242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Configure Credentials in Sketch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41248" y="44988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Open ESP32_AI_Camera_v3_1_0.ino — set at top of file (~lines 45–48):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41248" y="4700016"/>
            <a:ext cx="8046720" cy="25603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86968" y="470001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ssid = "YourWiFiSSID"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= "YourPassword"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 = "sk-..."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961F"/>
          </a:solidFill>
          <a:ln w="12700">
            <a:solidFill>
              <a:srgbClr val="E896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"/>
            <a:ext cx="777240" cy="58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</a:rPr>
              <a:t>Breakout 1: Assembly &amp; Setup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868680"/>
            <a:ext cx="182880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868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TIME: 15 MINUTES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28600" y="1371600"/>
            <a:ext cx="2834640" cy="3520440"/>
          </a:xfrm>
          <a:prstGeom prst="rect">
            <a:avLst/>
          </a:prstGeom>
          <a:solidFill>
            <a:srgbClr val="1B3A5C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28600" y="1371600"/>
            <a:ext cx="28346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28600" y="1371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TASK A: Hardware Assembly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" y="1883664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38328" y="1883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04088" y="184708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8"/>
                </a:solidFill>
              </a:rPr>
              <a:t>Unbox DFR1154 camera module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8328" y="2478024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38328" y="2478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04088" y="244144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8"/>
                </a:solidFill>
              </a:rPr>
              <a:t>If using tripod kit, attach mounting bracket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38328" y="3072384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38328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04088" y="303580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8"/>
                </a:solidFill>
              </a:rPr>
              <a:t>Connect USB-A to USB-C cable to your laptop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38328" y="3666744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38328" y="3666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04088" y="363016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8"/>
                </a:solidFill>
              </a:rPr>
              <a:t>Verify board powers on (LED should light)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38328" y="4261104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38328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04088" y="422452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8"/>
                </a:solidFill>
              </a:rPr>
              <a:t>Open Arduino IDE on your laptop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182112" y="1371600"/>
            <a:ext cx="2834640" cy="3520440"/>
          </a:xfrm>
          <a:prstGeom prst="rect">
            <a:avLst/>
          </a:prstGeom>
          <a:solidFill>
            <a:srgbClr val="1B3A5C"/>
          </a:solidFill>
          <a:ln w="12700">
            <a:solidFill>
              <a:srgbClr val="1E57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3182112" y="1371600"/>
            <a:ext cx="2834640" cy="384048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182112" y="1371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TASK B: IDE &amp; Firmware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291840" y="1883664"/>
            <a:ext cx="292608" cy="292608"/>
          </a:xfrm>
          <a:prstGeom prst="ellipse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3291840" y="1883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657600" y="184708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8"/>
                </a:solidFill>
              </a:rPr>
              <a:t>Verify ESP32 board package is installed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291840" y="2478024"/>
            <a:ext cx="292608" cy="292608"/>
          </a:xfrm>
          <a:prstGeom prst="ellipse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291840" y="2478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657600" y="244144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8"/>
                </a:solidFill>
              </a:rPr>
              <a:t>Select Tools → Board: ESP32S3 Dev Module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3291840" y="3072384"/>
            <a:ext cx="292608" cy="292608"/>
          </a:xfrm>
          <a:prstGeom prst="ellipse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3291840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3657600" y="303580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8"/>
                </a:solidFill>
              </a:rPr>
              <a:t>Apply the 5 settings from previous slide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3291840" y="3666744"/>
            <a:ext cx="292608" cy="292608"/>
          </a:xfrm>
          <a:prstGeom prst="ellipse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3291840" y="3666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3657600" y="363016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8"/>
                </a:solidFill>
              </a:rPr>
              <a:t>Open ESP32_AI_Camera_v3_1_0.ino sketch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3291840" y="4261104"/>
            <a:ext cx="292608" cy="292608"/>
          </a:xfrm>
          <a:prstGeom prst="ellipse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3291840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3657600" y="422452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8"/>
                </a:solidFill>
              </a:rPr>
              <a:t>Enter your WiFi SSID, password &amp; API key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135624" y="1371600"/>
            <a:ext cx="2834640" cy="3520440"/>
          </a:xfrm>
          <a:prstGeom prst="rect">
            <a:avLst/>
          </a:prstGeom>
          <a:solidFill>
            <a:srgbClr val="1B3A5C"/>
          </a:solidFill>
          <a:ln w="12700">
            <a:solidFill>
              <a:srgbClr val="16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6135624" y="1371600"/>
            <a:ext cx="2834640" cy="38404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6135624" y="1371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TASK C: Upload &amp; Connect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245352" y="1883664"/>
            <a:ext cx="292608" cy="29260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6245352" y="1883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611112" y="184708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8"/>
                </a:solidFill>
              </a:rPr>
              <a:t>Select correct COM port (Tools → Port)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6245352" y="2478024"/>
            <a:ext cx="292608" cy="29260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6245352" y="2478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6611112" y="244144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8"/>
                </a:solidFill>
              </a:rPr>
              <a:t>Click Upload button (→) in Arduino IDE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6245352" y="3072384"/>
            <a:ext cx="292608" cy="29260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6245352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6611112" y="303580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8"/>
                </a:solidFill>
              </a:rPr>
              <a:t>Wait for upload: "Done uploading" message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6245352" y="3666744"/>
            <a:ext cx="292608" cy="29260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6245352" y="3666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6611112" y="363016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8"/>
                </a:solidFill>
              </a:rPr>
              <a:t>Open Serial Monitor (115200 baud)</a:t>
            </a:r>
            <a:endParaRPr lang="en-US" sz="1050" dirty="0"/>
          </a:p>
        </p:txBody>
      </p:sp>
      <p:sp>
        <p:nvSpPr>
          <p:cNvPr id="58" name="Shape 55"/>
          <p:cNvSpPr/>
          <p:nvPr/>
        </p:nvSpPr>
        <p:spPr>
          <a:xfrm>
            <a:off x="6245352" y="4261104"/>
            <a:ext cx="292608" cy="29260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6245352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6611112" y="422452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8"/>
                </a:solidFill>
              </a:rPr>
              <a:t>Note the IP address shown (e.g. 192.168.x.x)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228600" y="4663440"/>
            <a:ext cx="8686800" cy="29260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228600" y="46634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SUCCESS GOAL: Open a web browser, enter the IP address, and see the AI Camera web interface!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"/>
            <a:ext cx="777240" cy="58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AI Camera Web Application Tour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868680"/>
            <a:ext cx="8595360" cy="402336"/>
          </a:xfrm>
          <a:prstGeom prst="rect">
            <a:avLst/>
          </a:prstGeom>
          <a:solidFill>
            <a:srgbClr val="FFF3CD"/>
          </a:solidFill>
          <a:ln w="12700">
            <a:solidFill>
              <a:srgbClr val="E896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86868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Pairing Workflow: Capture image/audio  →  Save to Export  →  Send to OpenAI Agent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41732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" y="1417320"/>
            <a:ext cx="9144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38912" y="14630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Camera Stream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38912" y="1737360"/>
            <a:ext cx="3950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LIVE button starts real-time stream. Use Stop Stream / Capture / Review buttons to control image capture. Images auto-saved to SD card as IMG_xx.jpg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141732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63440" y="1417320"/>
            <a:ext cx="91440" cy="960120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28032" y="14630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Audio Controls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28032" y="1737360"/>
            <a:ext cx="3950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Record button captures from PDM mic (WAV format). Speaker button plays back TTS audio. Audio Playback Bar shows duration and playback controls.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251460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74320" y="2514600"/>
            <a:ext cx="91440" cy="960120"/>
          </a:xfrm>
          <a:prstGeom prst="rect">
            <a:avLst/>
          </a:prstGeom>
          <a:solidFill>
            <a:srgbClr val="E8961F"/>
          </a:solidFill>
          <a:ln w="12700">
            <a:solidFill>
              <a:srgbClr val="E896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38912" y="2560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Image &amp; Audio Files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38912" y="2834640"/>
            <a:ext cx="3950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Image Files section lists all SD card JPEGs. Audio Files shows all WAV recordings. Use Add to Export, Save to PC, or Delete File buttons.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251460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663440" y="2514600"/>
            <a:ext cx="91440" cy="96012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28032" y="2560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OpenAI Analysis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828032" y="2834640"/>
            <a:ext cx="3950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Send to OpenAI sends selected image+audio to GPT-4 Vision. Results appear in text area. Replay TTS re-plays the AI response. Export Package downloads all.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4320" y="3657600"/>
            <a:ext cx="1161288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74320" y="3657600"/>
            <a:ext cx="116128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1. Start Stream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1499616" y="3657600"/>
            <a:ext cx="1161288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499616" y="3657600"/>
            <a:ext cx="116128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2. Capture Image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724912" y="3657600"/>
            <a:ext cx="1161288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2724912" y="3657600"/>
            <a:ext cx="116128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3. Record Audio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950208" y="3657600"/>
            <a:ext cx="1161288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950208" y="3657600"/>
            <a:ext cx="116128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4. Add to Export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175504" y="3657600"/>
            <a:ext cx="1161288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175504" y="3657600"/>
            <a:ext cx="116128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5. Send to OpenAI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400800" y="3657600"/>
            <a:ext cx="1161288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400800" y="3657600"/>
            <a:ext cx="116128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6. Review Results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626096" y="3657600"/>
            <a:ext cx="1161288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7626096" y="3657600"/>
            <a:ext cx="116128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7. Export Package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1435608" y="3895344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2660904" y="3895344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3886200" y="3895344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5111496" y="3895344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6336792" y="3895344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7562088" y="3895344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274320" y="4251960"/>
            <a:ext cx="8595360" cy="640080"/>
          </a:xfrm>
          <a:prstGeom prst="rect">
            <a:avLst/>
          </a:prstGeom>
          <a:solidFill>
            <a:srgbClr val="EBF5FB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Access the interface by opening a web browser and entering the IP address shown in the Arduino Serial Monitor.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Example: http://192.168.0.181  |  Note: Browser may show "Not Secure" — this is expected (self-signed certificate)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"/>
            <a:ext cx="777240" cy="58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</a:rPr>
              <a:t>Breakout 2: AI Exploration &amp; Classroom Design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868680"/>
            <a:ext cx="182880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868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TIME: 30 MINUTES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13716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</a:rPr>
              <a:t>Guided Activities (choose 1–2):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" y="1783080"/>
            <a:ext cx="4206240" cy="868680"/>
          </a:xfrm>
          <a:prstGeom prst="rect">
            <a:avLst/>
          </a:prstGeom>
          <a:solidFill>
            <a:srgbClr val="1B3A5C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74320" y="1783080"/>
            <a:ext cx="73152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38912" y="18196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Object ID Challenge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8912" y="2057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4F6F8"/>
                </a:solidFill>
              </a:rPr>
              <a:t>Point camera at common classroom objects. Ask: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4F6F8"/>
                </a:solidFill>
              </a:rPr>
              <a:t>"What is this object and how might it be used in a science lab?"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09160" y="1783080"/>
            <a:ext cx="4206240" cy="868680"/>
          </a:xfrm>
          <a:prstGeom prst="rect">
            <a:avLst/>
          </a:prstGeom>
          <a:solidFill>
            <a:srgbClr val="1B3A5C"/>
          </a:solidFill>
          <a:ln w="12700">
            <a:solidFill>
              <a:srgbClr val="1E57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09160" y="1783080"/>
            <a:ext cx="73152" cy="868680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873752" y="18196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799"/>
                </a:solidFill>
              </a:rPr>
              <a:t>Contextual Prompting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73752" y="2057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4F6F8"/>
                </a:solidFill>
              </a:rPr>
              <a:t>Photograph a diagram or equation. Ask: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4F6F8"/>
                </a:solidFill>
              </a:rPr>
              <a:t>"Explain this concept to a 6th grader in 3 sentences."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74320" y="2743200"/>
            <a:ext cx="4206240" cy="868680"/>
          </a:xfrm>
          <a:prstGeom prst="rect">
            <a:avLst/>
          </a:prstGeom>
          <a:solidFill>
            <a:srgbClr val="1B3A5C"/>
          </a:solidFill>
          <a:ln w="12700">
            <a:solidFill>
              <a:srgbClr val="E8961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74320" y="2743200"/>
            <a:ext cx="73152" cy="868680"/>
          </a:xfrm>
          <a:prstGeom prst="rect">
            <a:avLst/>
          </a:prstGeom>
          <a:solidFill>
            <a:srgbClr val="E8961F"/>
          </a:solidFill>
          <a:ln w="12700">
            <a:solidFill>
              <a:srgbClr val="E896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38912" y="27797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61F"/>
                </a:solidFill>
              </a:rPr>
              <a:t>Lab Safety Check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38912" y="3017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4F6F8"/>
                </a:solidFill>
              </a:rPr>
              <a:t>Photograph a lab setup. Ask: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4F6F8"/>
                </a:solidFill>
              </a:rPr>
              <a:t>"Identify any potential safety concerns in this image."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09160" y="2743200"/>
            <a:ext cx="4206240" cy="868680"/>
          </a:xfrm>
          <a:prstGeom prst="rect">
            <a:avLst/>
          </a:prstGeom>
          <a:solidFill>
            <a:srgbClr val="1B3A5C"/>
          </a:solidFill>
          <a:ln w="12700">
            <a:solidFill>
              <a:srgbClr val="16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709160" y="2743200"/>
            <a:ext cx="73152" cy="86868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73752" y="27797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085"/>
                </a:solidFill>
              </a:rPr>
              <a:t>Multi-Image Analysis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73752" y="3017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4F6F8"/>
                </a:solidFill>
              </a:rPr>
              <a:t>Capture before/after images of an experiment. Ask: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4F6F8"/>
                </a:solidFill>
              </a:rPr>
              <a:t>"Compare these two images and describe what changed."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74320" y="3703320"/>
            <a:ext cx="4206240" cy="868680"/>
          </a:xfrm>
          <a:prstGeom prst="rect">
            <a:avLst/>
          </a:prstGeom>
          <a:solidFill>
            <a:srgbClr val="1B3A5C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274320" y="3703320"/>
            <a:ext cx="73152" cy="8686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38912" y="37398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</a:rPr>
              <a:t>Audio + Vision Combo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38912" y="3977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4F6F8"/>
                </a:solidFill>
              </a:rPr>
              <a:t>Record a verbal question, then capture an image. Have the AI respond to the spoken question about the visual.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709160" y="3703320"/>
            <a:ext cx="4206240" cy="8686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709160" y="3703320"/>
            <a:ext cx="73152" cy="8686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873752" y="37398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</a:rPr>
              <a:t>Design a Lesson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873752" y="3977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4F6F8"/>
                </a:solidFill>
              </a:rPr>
              <a:t>Sketch how you would integrate this camera into ONE specific lesson or lab activity for your students.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Reflection: What subject area, grade level, and learning objective would this best support?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"/>
            <a:ext cx="777240" cy="58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Classroom Activity: Science Lab Observation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868680"/>
            <a:ext cx="2029968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886968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5A623"/>
                </a:solidFill>
              </a:rPr>
              <a:t>GRADE LEVEL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74320" y="1060704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6–10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432304" y="868680"/>
            <a:ext cx="2029968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432304" y="886968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5A623"/>
                </a:solidFill>
              </a:rPr>
              <a:t>SUBJECT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432304" y="1060704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Science / Biology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90288" y="868680"/>
            <a:ext cx="2029968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90288" y="886968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5A623"/>
                </a:solidFill>
              </a:rPr>
              <a:t>DURATION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590288" y="1060704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45–60 min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748272" y="868680"/>
            <a:ext cx="2029968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748272" y="886968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5A623"/>
                </a:solidFill>
              </a:rPr>
              <a:t>AI FEATURE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748272" y="1060704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GPT-4 Vision + TTS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74320" y="1444752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74320" y="1444752"/>
            <a:ext cx="1005840" cy="713232"/>
          </a:xfrm>
          <a:prstGeom prst="rect">
            <a:avLst/>
          </a:prstGeom>
          <a:solidFill>
            <a:srgbClr val="E8961F"/>
          </a:solidFill>
          <a:ln w="12700">
            <a:solidFill>
              <a:srgbClr val="E896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74320" y="14447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ENGAGE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74320" y="18105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6F8"/>
                </a:solidFill>
              </a:rPr>
              <a:t>5 min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371600" y="1499616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Teacher captures image of a biological specimen or plant using the AI camera. Projects the AI-generated description on screen to spark curiosity and discussion.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74320" y="224028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274320" y="2240280"/>
            <a:ext cx="1005840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74320" y="22402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EXPLORE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74320" y="26060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6F8"/>
                </a:solidFill>
              </a:rPr>
              <a:t>15 min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371600" y="2295144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Student groups take turns photographing specimens or lab materials. Each group verbally poses a scientific question about their specimen using the mic.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74320" y="303580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274320" y="3035808"/>
            <a:ext cx="1005840" cy="713232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274320" y="30358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EXPLAIN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274320" y="34015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6F8"/>
                </a:solidFill>
              </a:rPr>
              <a:t>15 min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371600" y="3090672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Groups send their image+audio to OpenAI. The AI response is read aloud via TTS. Students compare AI explanations with their own prior knowledge and textbook.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274320" y="3831336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274320" y="3831336"/>
            <a:ext cx="1005840" cy="7132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274320" y="383133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EVALUATE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274320" y="41970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6F8"/>
                </a:solidFill>
              </a:rPr>
              <a:t>10 min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371600" y="3886200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Each group exports their analysis package (image + audio + AI response). They write a 3-sentence reflection comparing the AI answer to what they learned.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74320" y="4645152"/>
            <a:ext cx="8595360" cy="292608"/>
          </a:xfrm>
          <a:prstGeom prst="rect">
            <a:avLst/>
          </a:prstGeom>
          <a:solidFill>
            <a:srgbClr val="EBF5FB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274320" y="464515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</a:rPr>
              <a:t>NGSS Aligned: MS-LS1, HS-LS2 | Supports: Asking Questions, Analyzing Data, Constructing Explanations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"/>
            <a:ext cx="777240" cy="58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Classroom Activity: Visual Problem Solving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868680"/>
            <a:ext cx="2029968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886968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5A623"/>
                </a:solidFill>
              </a:rPr>
              <a:t>GRADE LEVEL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74320" y="1060704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7–12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432304" y="868680"/>
            <a:ext cx="2029968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432304" y="886968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5A623"/>
                </a:solidFill>
              </a:rPr>
              <a:t>SUBJECT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432304" y="1060704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Math / Engineering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90288" y="868680"/>
            <a:ext cx="2029968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90288" y="886968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5A623"/>
                </a:solidFill>
              </a:rPr>
              <a:t>DURATION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590288" y="1060704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50 min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748272" y="868680"/>
            <a:ext cx="2029968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748272" y="886968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5A623"/>
                </a:solidFill>
              </a:rPr>
              <a:t>AI FEATURE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748272" y="1060704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GPT-4 Vision + Whisper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74320" y="146304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74320" y="1463040"/>
            <a:ext cx="42062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74320" y="14630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</a:rPr>
              <a:t>SETUP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84048" y="1865376"/>
            <a:ext cx="39867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Each pair of students gets a printed math problem or engineering design challenge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One student photographs the problem with the AI camera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Other student verbally states what approach they would try (mic recording)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09160" y="146304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961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709160" y="1463040"/>
            <a:ext cx="4206240" cy="347472"/>
          </a:xfrm>
          <a:prstGeom prst="rect">
            <a:avLst/>
          </a:prstGeom>
          <a:solidFill>
            <a:srgbClr val="E8961F"/>
          </a:solidFill>
          <a:ln w="12700">
            <a:solidFill>
              <a:srgbClr val="E896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709160" y="14630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</a:rPr>
              <a:t>AI ANALYSIS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818888" y="1865376"/>
            <a:ext cx="39867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Pair sends image + voice to OpenAI with prompt: "Solve this step by step, then explain your reasoning"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AI response is spoken via TTS — students listen without looking at the text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Students record key steps they heard in their science journal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74320" y="297180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274320" y="2971800"/>
            <a:ext cx="4206240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74320" y="29718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</a:rPr>
              <a:t>CRITICAL COMPARISON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84048" y="3374136"/>
            <a:ext cx="39867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Students then read the full AI text response and compare to what they heard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Identify: Where was the AI correct? Where did they hear something different?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Discuss: Is the AI reasoning sound? What would you do differently?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709160" y="297180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709160" y="2971800"/>
            <a:ext cx="420624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709160" y="29718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</a:rPr>
              <a:t>EXTENSION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818888" y="3374136"/>
            <a:ext cx="39867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Change the prompt: "Solve this WITHOUT using algebra — use only visual/geometric reasoning"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Compare responses — discuss different problem-solving approaches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Export package for portfolio evidence of AI-assisted mathematical reasoning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274320" y="4645152"/>
            <a:ext cx="8595360" cy="292608"/>
          </a:xfrm>
          <a:prstGeom prst="rect">
            <a:avLst/>
          </a:prstGeom>
          <a:solidFill>
            <a:srgbClr val="EBF5FB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274320" y="464515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</a:rPr>
              <a:t>Standards: CCSS MP.1, MP.3, MP.5 | NGSS Science &amp; Engineering Practices | ISTE Standard 1.5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"/>
            <a:ext cx="777240" cy="58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in Education: Key Discussion Points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914400"/>
            <a:ext cx="4206240" cy="1828800"/>
          </a:xfrm>
          <a:prstGeom prst="rect">
            <a:avLst/>
          </a:prstGeom>
          <a:solidFill>
            <a:srgbClr val="1B3A5C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420624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4320" y="9144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</a:rPr>
              <a:t>ACADEMIC INTEGRITY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1371600"/>
            <a:ext cx="3931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6F8"/>
                </a:solidFill>
              </a:rPr>
              <a:t>When is AI use appropriate vs. not?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6F8"/>
                </a:solidFill>
              </a:rPr>
              <a:t>How do we teach responsible AI use?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6F8"/>
                </a:solidFill>
              </a:rPr>
              <a:t>Citation and attribution of AI-generated content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6F8"/>
                </a:solidFill>
              </a:rPr>
              <a:t>School/district AI use policies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914400"/>
            <a:ext cx="4206240" cy="1828800"/>
          </a:xfrm>
          <a:prstGeom prst="rect">
            <a:avLst/>
          </a:prstGeom>
          <a:solidFill>
            <a:srgbClr val="1B3A5C"/>
          </a:solidFill>
          <a:ln w="12700">
            <a:solidFill>
              <a:srgbClr val="E8961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09160" y="914400"/>
            <a:ext cx="4206240" cy="384048"/>
          </a:xfrm>
          <a:prstGeom prst="rect">
            <a:avLst/>
          </a:prstGeom>
          <a:solidFill>
            <a:srgbClr val="E8961F"/>
          </a:solidFill>
          <a:ln w="12700">
            <a:solidFill>
              <a:srgbClr val="E896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709160" y="9144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</a:rPr>
              <a:t>EQUITY &amp; ACCESS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46320" y="1371600"/>
            <a:ext cx="3931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6F8"/>
                </a:solidFill>
              </a:rPr>
              <a:t>Hardware cost considerations (~$35/unit)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6F8"/>
                </a:solidFill>
              </a:rPr>
              <a:t>API costs and budget planning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6F8"/>
                </a:solidFill>
              </a:rPr>
              <a:t>English Language Learner applications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6F8"/>
                </a:solidFill>
              </a:rPr>
              <a:t>Differentiated instruction opportunities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2880360"/>
            <a:ext cx="4206240" cy="1828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6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74320" y="2880360"/>
            <a:ext cx="4206240" cy="38404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4320" y="28803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</a:rPr>
              <a:t>PEDAGOGICAL FIT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11480" y="3337560"/>
            <a:ext cx="3931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6F8"/>
                </a:solidFill>
              </a:rPr>
              <a:t>Best-fit subject areas and grade bands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6F8"/>
                </a:solidFill>
              </a:rPr>
              <a:t>Avoiding over-reliance on AI answers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6F8"/>
                </a:solidFill>
              </a:rPr>
              <a:t>Using AI to check student reasoning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6F8"/>
                </a:solidFill>
              </a:rPr>
              <a:t>Project-based learning integration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09160" y="2880360"/>
            <a:ext cx="4206240" cy="1828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E57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709160" y="2880360"/>
            <a:ext cx="4206240" cy="384048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09160" y="28803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</a:rPr>
              <a:t>TECHNICAL LITERACY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46320" y="3337560"/>
            <a:ext cx="3931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6F8"/>
                </a:solidFill>
              </a:rPr>
              <a:t>Teaching how LLMs work (AI4K12)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6F8"/>
                </a:solidFill>
              </a:rPr>
              <a:t>Bias in AI-generated responses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6F8"/>
                </a:solidFill>
              </a:rPr>
              <a:t>Privacy considerations (images sent to API)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6F8"/>
                </a:solidFill>
              </a:rPr>
              <a:t>Prompting as a 21st century skill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A623"/>
                </a:solidFill>
              </a:rPr>
              <a:t>"AI won't replace teachers — but teachers who use AI will replace those who don't."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"/>
            <a:ext cx="777240" cy="58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Report-Out: Share Your Learning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850392"/>
            <a:ext cx="182880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TIME: 15 MINUTES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1325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Each group shares a 2-minute response to these prompts: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1719072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47472" y="1792224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47472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4672" y="1792224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</a:rPr>
              <a:t>What subject, grade level, and lesson would you use this for?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74320" y="2295144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47472" y="2368296"/>
            <a:ext cx="365760" cy="365760"/>
          </a:xfrm>
          <a:prstGeom prst="ellipse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47472" y="2368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04672" y="2368296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</a:rPr>
              <a:t>What was the most surprising or useful AI response you received?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74320" y="2871216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47472" y="2944368"/>
            <a:ext cx="365760" cy="365760"/>
          </a:xfrm>
          <a:prstGeom prst="ellipse">
            <a:avLst/>
          </a:prstGeom>
          <a:solidFill>
            <a:srgbClr val="E8961F"/>
          </a:solidFill>
          <a:ln w="12700">
            <a:solidFill>
              <a:srgbClr val="E896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47472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04672" y="294436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</a:rPr>
              <a:t>What student learning objective would this best support?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74320" y="3447288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47472" y="352044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47472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04672" y="35204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</a:rPr>
              <a:t>What challenge or concern do you have about classroom implementation?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347472" y="4096512"/>
            <a:ext cx="365760" cy="36576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47472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04672" y="409651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</a:rPr>
              <a:t>What is your ONE next step to explore this further?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4F6F8"/>
                </a:solidFill>
              </a:rPr>
              <a:t>Facilitator: Capture key themes on whiteboard and note recurring ideas for follow-up resources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"/>
            <a:ext cx="777240" cy="58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Troubleshooting &amp; FAQ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91440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73152" cy="8412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38912" y="9509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Q: Upload fails / no COM port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38912" y="12435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A: Enable USB CDC On Boot in Tools. Try different USB cable. Hold BOOT button while connecting.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91440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961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09160" y="914400"/>
            <a:ext cx="73152" cy="841248"/>
          </a:xfrm>
          <a:prstGeom prst="rect">
            <a:avLst/>
          </a:prstGeom>
          <a:solidFill>
            <a:srgbClr val="E8961F"/>
          </a:solidFill>
          <a:ln w="12700">
            <a:solidFill>
              <a:srgbClr val="E896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73752" y="9509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Q: API key not working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73752" y="12435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A: Check no spaces/line breaks in key. Verify account has API credits. Key format: sk-....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187452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1E57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74320" y="1874520"/>
            <a:ext cx="73152" cy="841248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38912" y="19110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Q: SSL Certificate error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38912" y="22037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A: Firmware uses insecure mode with encryption — this is intentional. "Not Secure" in browser is normal.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09160" y="187452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709160" y="1874520"/>
            <a:ext cx="73152" cy="8412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73752" y="19110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Q: No audio / mic not working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73752" y="22037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A: Camera and mic share I2S_NUM_0. Stop camera stream before recording. Audio requires 10x software amplification.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" y="283464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74320" y="2834640"/>
            <a:ext cx="73152" cy="84124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38912" y="28712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Q: SD card not found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38912" y="316382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A: Format as FAT32. DFR1154 uses SD_MMC. Ensure card inserted before power-up. Try &lt;32GB card.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709160" y="283464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709160" y="2834640"/>
            <a:ext cx="73152" cy="8412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873752" y="28712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Q: Web interface freezes during analysis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873752" y="316382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A: Expected behavior — ESP32 is single-threaded. Periodic handleClient() calls provide updates. Wait 15–30 sec.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74320" y="3794760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E57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274320" y="3794760"/>
            <a:ext cx="73152" cy="530352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38912" y="381304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Q: "Boards manager" install timeout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38912" y="406908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A: Edit arduino-cli.yaml → add: network: connection_timeout: 600s → restart Arduino IDE.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82880"/>
            <a:ext cx="109728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A623"/>
                </a:solidFill>
              </a:rPr>
              <a:t>Next Steps &amp; Resources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4023360" cy="3520440"/>
          </a:xfrm>
          <a:prstGeom prst="rect">
            <a:avLst/>
          </a:prstGeom>
          <a:solidFill>
            <a:srgbClr val="1B3A5C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65760" y="914400"/>
            <a:ext cx="40233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914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YOUR NEXT STEPS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2064" y="1389888"/>
            <a:ext cx="37490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F4F6F8"/>
                </a:solidFill>
              </a:rPr>
              <a:t>Purchase your own DFR1154 camera (~$35)</a:t>
            </a:r>
            <a:endParaRPr lang="en-US" sz="11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F4F6F8"/>
                </a:solidFill>
              </a:rPr>
              <a:t>Set up your OpenAI account &amp; API key</a:t>
            </a:r>
            <a:endParaRPr lang="en-US" sz="11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F4F6F8"/>
                </a:solidFill>
              </a:rPr>
              <a:t>Try the standalone firmware at home</a:t>
            </a:r>
            <a:endParaRPr lang="en-US" sz="11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F4F6F8"/>
                </a:solidFill>
              </a:rPr>
              <a:t>Design ONE lesson that integrates AI vision</a:t>
            </a:r>
            <a:endParaRPr lang="en-US" sz="11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F4F6F8"/>
                </a:solidFill>
              </a:rPr>
              <a:t>Share with your department or PLN</a:t>
            </a:r>
            <a:endParaRPr lang="en-US" sz="11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F4F6F8"/>
                </a:solidFill>
              </a:rPr>
              <a:t>Explore the GitHub repository for source code</a:t>
            </a:r>
            <a:endParaRPr lang="en-US" sz="11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F4F6F8"/>
                </a:solidFill>
              </a:rPr>
              <a:t>Join our follow-up session (date TBD)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914400"/>
            <a:ext cx="4206240" cy="3520440"/>
          </a:xfrm>
          <a:prstGeom prst="rect">
            <a:avLst/>
          </a:prstGeom>
          <a:solidFill>
            <a:srgbClr val="1B3A5C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63440" y="914400"/>
            <a:ext cx="420624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663440" y="9144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D1B2A"/>
                </a:solidFill>
              </a:rPr>
              <a:t>KEEP EXPLORING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426464"/>
            <a:ext cx="7315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>
            <a:hlinkClick r:id="rId4"/>
          </p:cNvPr>
          <p:cNvSpPr/>
          <p:nvPr/>
        </p:nvSpPr>
        <p:spPr>
          <a:xfrm>
            <a:off x="4919472" y="14264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7DD3F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DFRobot Wiki — wiki.dfrobot.com/SKU_DFR1154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1847088"/>
            <a:ext cx="7315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hlinkClick r:id="rId5"/>
          </p:cNvPr>
          <p:cNvSpPr/>
          <p:nvPr/>
        </p:nvSpPr>
        <p:spPr>
          <a:xfrm>
            <a:off x="4919472" y="1847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7DD3FC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AI4K12 Framework — ai4k12.org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2267712"/>
            <a:ext cx="7315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>
            <a:hlinkClick r:id="rId6"/>
          </p:cNvPr>
          <p:cNvSpPr/>
          <p:nvPr/>
        </p:nvSpPr>
        <p:spPr>
          <a:xfrm>
            <a:off x="4919472" y="2267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7DD3FC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Platform — platform.openai.com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2688336"/>
            <a:ext cx="7315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>
            <a:hlinkClick r:id="rId7"/>
          </p:cNvPr>
          <p:cNvSpPr/>
          <p:nvPr/>
        </p:nvSpPr>
        <p:spPr>
          <a:xfrm>
            <a:off x="4919472" y="26883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7DD3FC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Arduino IDE Download — arduino.cc/en/software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3108960"/>
            <a:ext cx="7315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>
            <a:hlinkClick r:id="rId8"/>
          </p:cNvPr>
          <p:cNvSpPr/>
          <p:nvPr/>
        </p:nvSpPr>
        <p:spPr>
          <a:xfrm>
            <a:off x="4919472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7DD3FC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ESP32 Setup Tutorial — randomnerdtutorials.com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54880" y="3529584"/>
            <a:ext cx="7315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>
            <a:hlinkClick r:id="rId9"/>
          </p:cNvPr>
          <p:cNvSpPr/>
          <p:nvPr/>
        </p:nvSpPr>
        <p:spPr>
          <a:xfrm>
            <a:off x="4919472" y="3529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7DD3FC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Code.org AI Curriculum — code.org/ai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54880" y="3950208"/>
            <a:ext cx="7315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>
            <a:hlinkClick r:id="rId10"/>
          </p:cNvPr>
          <p:cNvSpPr/>
          <p:nvPr/>
        </p:nvSpPr>
        <p:spPr>
          <a:xfrm>
            <a:off x="4919472" y="3950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7DD3FC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ISTE AI in Education — iste.org/ai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</a:rPr>
              <a:t>Thank you for participating!  Questions? Contact your CIJE facilitator.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2358</Words>
  <Application>Microsoft Office PowerPoint</Application>
  <PresentationFormat>On-screen Show (16:9)</PresentationFormat>
  <Paragraphs>416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DFR1154 AI Camera - STEM Teacher Professional Development</dc:title>
  <dc:subject>PptxGenJS Presentation</dc:subject>
  <dc:creator>CIJE</dc:creator>
  <cp:lastModifiedBy>Bob Jones</cp:lastModifiedBy>
  <cp:revision>1</cp:revision>
  <dcterms:created xsi:type="dcterms:W3CDTF">2026-03-02T21:17:51Z</dcterms:created>
  <dcterms:modified xsi:type="dcterms:W3CDTF">2026-03-02T21:21:54Z</dcterms:modified>
</cp:coreProperties>
</file>